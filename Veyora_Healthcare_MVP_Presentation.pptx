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Good morning evaluators. Today we are presenting Veyora Healthcare, an intelligent clinical continuity platform built by Team CodeByte for IIIT Delhi.
In today’s digital health landscape, existing tools focus solely on digitizing medical records. However, healthcare doesn’t end when the doctor consultation ends—in fact, that is precisely when recovery begins.
Over the next 12 slides, we will demonstrate how Veyora bridges this massive gap, explain our 5-member architecture, show the complete live workflow, and benchmark our solution against existing state-of-the-art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Let us examine the problem from both the patient and clinician side.
First: The Post-Visit Drop-Off. Globally and across Indian public clinics, once a patient leaves the OPD cabin, there is zero guidance. 50% of patients fail to adhere to their medication regimens.
Second: Clinician Burnout. Government PHCs and busy OPDs see dozens of patients per hour. Doctors spend precious minutes navigating clunky software rather than looking the patient in the eye.
Third: The Unprepared Revisit Problem. Up to 35% of diagnostic re-visits are wasted because the patient ate breakfast before a fasting glucose test or forgot their past paper slips.
Veyora solves all three problems systematically.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Here is our competitive landscape matrix.
Notice that existing solutions excel at either record storage (ABHA) or appointment booking (Practo), or billing (Epic). None of them provide Active Clinical Continuity.
Veyora bridges this directly:
1. Instead of a passive record locker, Veyora provides an Autonomous AI Care Coordinator.
2. Instead of requiring patients to manually type medication alarms into apps like Medisafe, the doctor’s prescription automatically seeds 3-slot daily dosing telemetry.
3. Instead of simple appointment reminders, Veyora issues actionable T-1 prep checklists (overnight fasting rules, documents to carry, morning dose timing rules).
4. We support voice-assisted Hindi and English intake, making it accessible for Indian public healthcare.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Our architecture rests on 3 pillars.
Pillar 1 is the Doctor Workstation: built specifically for OPD environments where doctors have under 3 minutes per patient. Fast QR lookup, instant briefing, and 3-click prescription signing.
Pillar 2 is the Patient Experience: zero friction, speech-to-text intake in vernacular languages, and instant QR generation for contactless check-in.
Pillar 3 is our core innovation: The Autonomous AI Care Coordinator. It ingests the doctor’s sign-off and immediately orchestrates daily telemetry, condition precautions, and hourly background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Here is the complete chronological journey of a patient through Veyora:
Step 1: Patient arrives or registers at home using voice intake. An encrypted token is produced.
Step 2: At the clinic, the doctor uses their laptop or tablet camera to scan the token. No paper charts needed.
Step 3: Doctor conducts the consult, adds medications with simple frequency pickers (1-0-1), and signs off.
Step 4: Once signed off, the AI Care Coordinator takes over instantly. The patient’s portal now reflects daily doses, dietary rules, and emergency red-flags.
Step 5: Exactly 24 hours prior to their follow-up date, the AI proactively sends a fasting checklist. If missed, our background daemon automatically notifies community health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Here is the Doctor Workstation deep dive.
In high-volume OPDs, doctors do not have time to navigate multiple sub-menus. We streamlined the workflow into 3 sequential panels: Queue -&gt; Briefing &amp; Vitals -&gt; Prescription Builder.
Scanning a patient token takes less than 1 second using standard webcam hardware. Charting a full multi-drug encounter takes under 45 seconds.
Most importantly, when the doctor clicks "Sign &amp; Handoff", the encounter is cryptographically locked and instantly synchronized to the patient’s portal and our AI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Now let us look at the Patient Experience.
In India and emerging markets, text-heavy apps fail because of language barriers and varying literacy levels. We addressed this with three core design choices:
1. Voice-Assisted Intake: Patients speak into their phone in Hindi or English, and our system automatically captures their symptoms.
2. The Consent QR Pass: It uses cryptographic tokens. If a patient drops their paper slip in the clinic, nobody can see their medical history because the QR contains only an opaque reference.
3. Digital Prescription Access: The patient always has a clean, readable version of their medications on their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Slide 8 presents our primary architectural innovation: The Autonomous AI Care Coordinator.
Notice that this is not just a chatbot. It is an active care orchestration daemon.
It parses complex prescription strings into three clean daily checkboxes for the patient. It generates tailored dietary cautions for Diabetes, Hypertension, and Asthma.
Most importantly, it solves the "unprepared patient" problem: 24 hours before their follow-up appointment, it issues our T-1 Checklist—telling them exactly when to fast, which medicines to withhold until after lab draws, and reminding them to carry their medicine wrappers.
And if an appointment is missed, our background cron daemon automatically routes an outreach alert to community health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Here is our complete team task allocation across the 5 members of CodeByte:
1. Parth Mahajan spearheaded Backend Architecture &amp; Security, building our MongoDB schemas, JWT authentication, and RBAC security layer.
2. Pranjal Sharma developed the Patient Experience, creating the voice intake in Hindi and English, the QR pass generator, and patient portal views.
3. Shreyas engineered the Doctor Workstation, building the camera QR scanner, clinical briefing engine, and dynamic multi-drug prescription builder.
4. Soubhik Sarkar built the AI Care Coordinator, designing the 3-slot dose telemetry, T-1 fasting checklist, and bilingual recovery engine.
5. Vasu Chandra owned Full-Stack Integration &amp; DevOps, orchestrating the Vite/Express build pipeline, WebSockets via Socket.io, and cross-branch integration.
Every component you see in our demo today was built and integrated collaboratively by this 5-person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10):
Here is our technical architecture.
We chose a modernized MERN stack enriched with Socket.io and background cron daemons.
For the frontend: React 18 with Vite for sub-second build and HMR. We integrated the HTML5 Web Speech API for voice intake and html5-qrcode for barcode reading.
For the backend: Express with JWT auth and RBAC.
For real-time sync: Socket.io broadcasts token check-ins directly to the doctor’s screen without polling.
For automation: Node-cron runs hourly scans in the background, checking for missed appointments and auto-dispatching escalation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11):
Evaluators can verify the entire pipeline right now on our live build.
We have pre-seeded two evaluator accounts: Doctor 1 and Patient 1.
You can test the entire loop in under 2 minutes:
First, open Patient 1’s QR pass.
Second, open Doctor 1’s station and scan that pass using your laptop camera.
Third, prescribe a medication and sign off.
Fourth, switch back to Patient 1 and watch the AI Care Coordinator immediately ingest the prescription, show the dose checkboxes, and trigger the T-1 fasting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12):
Looking at the broader horizon:
Our platform addresses four measurable public health metrics:
1. 40% reduction in missed follow-ups.
2. 3x improvement in medication adherence.
3. 65% reduction in OPD registration waiting times.
4. Total elimination of lost paper prescriptions.
Our roadmap is realistic: In Phase 2 we are adding automated WhatsApp and SMS gateways for non-smartphone users. In Phase 3, we will certify for ABDM/FHIR national compliance. And in Phase 4, we will bring edge-AI offline capabilities to remote sub-centres.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13):
In conclusion, Veyora Healthcare turns static health data into continuous, active care.
We empower clinicians with lightning-fast OPD workflows, empower patients with accessible multilingual guidance, and use autonomous AI to close the critical care gap between appointments.
We now invite the evaluators to test our live build and ask any architectural or technical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2563EB"/>
          </a:solidFill>
          <a:ln/>
        </p:spPr>
      </p:sp>
      <p:sp>
        <p:nvSpPr>
          <p:cNvPr id="3" name="Shape 1"/>
          <p:cNvSpPr/>
          <p:nvPr/>
        </p:nvSpPr>
        <p:spPr>
          <a:xfrm>
            <a:off x="731520" y="1097280"/>
            <a:ext cx="2926080" cy="384048"/>
          </a:xfrm>
          <a:prstGeom prst="roundRect">
            <a:avLst/>
          </a:prstGeom>
          <a:solidFill>
            <a:srgbClr val="1E293B"/>
          </a:solidFill>
          <a:ln w="12700">
            <a:solidFill>
              <a:srgbClr val="334155"/>
            </a:solidFill>
            <a:prstDash val="solid"/>
          </a:ln>
        </p:spPr>
      </p:sp>
      <p:sp>
        <p:nvSpPr>
          <p:cNvPr id="4" name="Text 2"/>
          <p:cNvSpPr/>
          <p:nvPr/>
        </p:nvSpPr>
        <p:spPr>
          <a:xfrm>
            <a:off x="822960" y="1143000"/>
            <a:ext cx="2743200" cy="292608"/>
          </a:xfrm>
          <a:prstGeom prst="rect">
            <a:avLst/>
          </a:prstGeom>
          <a:noFill/>
          <a:ln/>
        </p:spPr>
        <p:txBody>
          <a:bodyPr wrap="square" rtlCol="0" anchor="ctr"/>
          <a:lstStyle/>
          <a:p>
            <a:pPr algn="ctr" indent="0" marL="0">
              <a:buNone/>
            </a:pPr>
            <a:r>
              <a:rPr lang="en-US" sz="950" b="1" spc="150" kern="0" dirty="0">
                <a:solidFill>
                  <a:srgbClr val="38BDF8"/>
                </a:solidFill>
                <a:latin typeface="Arial" pitchFamily="34" charset="0"/>
                <a:ea typeface="Arial" pitchFamily="34" charset="-122"/>
                <a:cs typeface="Arial" pitchFamily="34" charset="-120"/>
              </a:rPr>
              <a:t>HEALTHCARE CONTINUITY PLATFORM</a:t>
            </a:r>
            <a:endParaRPr lang="en-US" sz="950" dirty="0"/>
          </a:p>
        </p:txBody>
      </p:sp>
      <p:sp>
        <p:nvSpPr>
          <p:cNvPr id="5" name="Text 3"/>
          <p:cNvSpPr/>
          <p:nvPr/>
        </p:nvSpPr>
        <p:spPr>
          <a:xfrm>
            <a:off x="731520" y="1645920"/>
            <a:ext cx="10515600" cy="100584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VEYORA HEALTHCARE</a:t>
            </a:r>
            <a:endParaRPr lang="en-US" sz="4400" dirty="0"/>
          </a:p>
        </p:txBody>
      </p:sp>
      <p:sp>
        <p:nvSpPr>
          <p:cNvPr id="6" name="Text 4"/>
          <p:cNvSpPr/>
          <p:nvPr/>
        </p:nvSpPr>
        <p:spPr>
          <a:xfrm>
            <a:off x="731520" y="2697480"/>
            <a:ext cx="10058400" cy="548640"/>
          </a:xfrm>
          <a:prstGeom prst="rect">
            <a:avLst/>
          </a:prstGeom>
          <a:noFill/>
          <a:ln/>
        </p:spPr>
        <p:txBody>
          <a:bodyPr wrap="square" rtlCol="0" anchor="ctr"/>
          <a:lstStyle/>
          <a:p>
            <a:pPr indent="0" marL="0">
              <a:buNone/>
            </a:pPr>
            <a:r>
              <a:rPr lang="en-US" sz="1800" dirty="0">
                <a:solidFill>
                  <a:srgbClr val="94A3B8"/>
                </a:solidFill>
                <a:latin typeface="Arial" pitchFamily="34" charset="0"/>
                <a:ea typeface="Arial" pitchFamily="34" charset="-122"/>
                <a:cs typeface="Arial" pitchFamily="34" charset="-120"/>
              </a:rPr>
              <a:t>Bridging the Critical Gap Between Clinical Consultations and Daily Recovery</a:t>
            </a:r>
            <a:endParaRPr lang="en-US" sz="1800" dirty="0"/>
          </a:p>
        </p:txBody>
      </p:sp>
      <p:sp>
        <p:nvSpPr>
          <p:cNvPr id="7" name="Shape 5"/>
          <p:cNvSpPr/>
          <p:nvPr/>
        </p:nvSpPr>
        <p:spPr>
          <a:xfrm>
            <a:off x="731520" y="3429000"/>
            <a:ext cx="10725912" cy="1325880"/>
          </a:xfrm>
          <a:prstGeom prst="roundRect">
            <a:avLst/>
          </a:prstGeom>
          <a:solidFill>
            <a:srgbClr val="1E293B"/>
          </a:solidFill>
          <a:ln w="19050">
            <a:solidFill>
              <a:srgbClr val="3B82F6"/>
            </a:solidFill>
            <a:prstDash val="solid"/>
          </a:ln>
        </p:spPr>
      </p:sp>
      <p:sp>
        <p:nvSpPr>
          <p:cNvPr id="8" name="Text 6"/>
          <p:cNvSpPr/>
          <p:nvPr/>
        </p:nvSpPr>
        <p:spPr>
          <a:xfrm>
            <a:off x="1005840" y="3566160"/>
            <a:ext cx="10058400" cy="320040"/>
          </a:xfrm>
          <a:prstGeom prst="rect">
            <a:avLst/>
          </a:prstGeom>
          <a:noFill/>
          <a:ln/>
        </p:spPr>
        <p:txBody>
          <a:bodyPr wrap="square" rtlCol="0" anchor="ctr"/>
          <a:lstStyle/>
          <a:p>
            <a:pPr indent="0" marL="0">
              <a:buNone/>
            </a:pPr>
            <a:r>
              <a:rPr lang="en-US" sz="1200" b="1" dirty="0">
                <a:solidFill>
                  <a:srgbClr val="60A5FA"/>
                </a:solidFill>
                <a:latin typeface="Arial" pitchFamily="34" charset="0"/>
                <a:ea typeface="Arial" pitchFamily="34" charset="-122"/>
                <a:cs typeface="Arial" pitchFamily="34" charset="-120"/>
              </a:rPr>
              <a:t>Executive Summary &amp; The "Care Gap" Thesis</a:t>
            </a:r>
            <a:endParaRPr lang="en-US" sz="1200" dirty="0"/>
          </a:p>
        </p:txBody>
      </p:sp>
      <p:sp>
        <p:nvSpPr>
          <p:cNvPr id="9" name="Text 7"/>
          <p:cNvSpPr/>
          <p:nvPr/>
        </p:nvSpPr>
        <p:spPr>
          <a:xfrm>
            <a:off x="1005840" y="3931920"/>
            <a:ext cx="10149840" cy="731520"/>
          </a:xfrm>
          <a:prstGeom prst="rect">
            <a:avLst/>
          </a:prstGeom>
          <a:noFill/>
          <a:ln/>
        </p:spPr>
        <p:txBody>
          <a:bodyPr wrap="square" rtlCol="0" anchor="ctr"/>
          <a:lstStyle/>
          <a:p>
            <a:pPr indent="0" marL="0">
              <a:lnSpc>
                <a:spcPts val="1600"/>
              </a:lnSpc>
              <a:buNone/>
            </a:pPr>
            <a:r>
              <a:rPr lang="en-US" sz="1100" dirty="0">
                <a:solidFill>
                  <a:srgbClr val="E2E8F0"/>
                </a:solidFill>
                <a:latin typeface="Arial" pitchFamily="34" charset="0"/>
                <a:ea typeface="Arial" pitchFamily="34" charset="-122"/>
                <a:cs typeface="Arial" pitchFamily="34" charset="-120"/>
              </a:rPr>
              <a:t>Pre-existing national registries store static diagnostic records, yet patients are left unsupported once they leave the clinic.</a:t>
            </a:r>
            <a:endParaRPr lang="en-US" sz="1100" dirty="0"/>
          </a:p>
          <a:p>
            <a:pPr indent="0" marL="0">
              <a:lnSpc>
                <a:spcPts val="1600"/>
              </a:lnSpc>
              <a:buNone/>
            </a:pPr>
            <a:r>
              <a:rPr lang="en-US" sz="1100" dirty="0">
                <a:solidFill>
                  <a:srgbClr val="E2E8F0"/>
                </a:solidFill>
                <a:latin typeface="Arial" pitchFamily="34" charset="0"/>
                <a:ea typeface="Arial" pitchFamily="34" charset="-122"/>
                <a:cs typeface="Arial" pitchFamily="34" charset="-120"/>
              </a:rPr>
              <a:t>Veyora pairs an ultra-efficient Doctor Workstation and multilingual Patient Experience with an Autonomous AI Care Coordinator that continuously oversees daily medication schedules, dietary precautions, red-flag triage, and 24-hour pre-consultation readiness.</a:t>
            </a:r>
            <a:endParaRPr lang="en-US" sz="1100" dirty="0"/>
          </a:p>
        </p:txBody>
      </p:sp>
      <p:sp>
        <p:nvSpPr>
          <p:cNvPr id="10" name="Text 8"/>
          <p:cNvSpPr/>
          <p:nvPr/>
        </p:nvSpPr>
        <p:spPr>
          <a:xfrm>
            <a:off x="731520" y="5166360"/>
            <a:ext cx="10725912" cy="36576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Project: IIITD MVP Showcase  |  Team: CodeByte (5 Members)  |  Stage: Functional Production MVP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THE CLINICAL VOID</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The Post-Consultation "Care Gap" &amp; The Reality of Modern OPDs</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Why 50%+ of chronic care outcomes fail between clinical visits</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3410712" cy="4389120"/>
          </a:xfrm>
          <a:prstGeom prst="roundRect">
            <a:avLst/>
          </a:prstGeom>
          <a:solidFill>
            <a:srgbClr val="FFFFFF"/>
          </a:solidFill>
          <a:ln w="19050">
            <a:solidFill>
              <a:srgbClr val="E2E8F0"/>
            </a:solidFill>
            <a:prstDash val="solid"/>
          </a:ln>
        </p:spPr>
      </p:sp>
      <p:sp>
        <p:nvSpPr>
          <p:cNvPr id="9" name="Shape 7"/>
          <p:cNvSpPr/>
          <p:nvPr/>
        </p:nvSpPr>
        <p:spPr>
          <a:xfrm>
            <a:off x="1005840" y="1920240"/>
            <a:ext cx="731520" cy="320040"/>
          </a:xfrm>
          <a:prstGeom prst="roundRect">
            <a:avLst/>
          </a:prstGeom>
          <a:solidFill>
            <a:srgbClr val="EF4444"/>
          </a:solidFill>
          <a:ln/>
        </p:spPr>
      </p:sp>
      <p:sp>
        <p:nvSpPr>
          <p:cNvPr id="10" name="Text 8"/>
          <p:cNvSpPr/>
          <p:nvPr/>
        </p:nvSpPr>
        <p:spPr>
          <a:xfrm>
            <a:off x="1005840" y="1938528"/>
            <a:ext cx="73152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11" name="Text 9"/>
          <p:cNvSpPr/>
          <p:nvPr/>
        </p:nvSpPr>
        <p:spPr>
          <a:xfrm>
            <a:off x="1005840" y="2423160"/>
            <a:ext cx="2862072" cy="45720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High Post-Visit Drop-Off</a:t>
            </a:r>
            <a:endParaRPr lang="en-US" sz="1600" dirty="0"/>
          </a:p>
        </p:txBody>
      </p:sp>
      <p:sp>
        <p:nvSpPr>
          <p:cNvPr id="12" name="Text 10"/>
          <p:cNvSpPr/>
          <p:nvPr/>
        </p:nvSpPr>
        <p:spPr>
          <a:xfrm>
            <a:off x="1005840" y="2926080"/>
            <a:ext cx="2862072" cy="320040"/>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50%+ Non-Adherence</a:t>
            </a:r>
            <a:endParaRPr lang="en-US" sz="1300" dirty="0"/>
          </a:p>
        </p:txBody>
      </p:sp>
      <p:sp>
        <p:nvSpPr>
          <p:cNvPr id="13" name="Shape 11"/>
          <p:cNvSpPr/>
          <p:nvPr/>
        </p:nvSpPr>
        <p:spPr>
          <a:xfrm>
            <a:off x="1005840" y="3337560"/>
            <a:ext cx="2862072" cy="0"/>
          </a:xfrm>
          <a:prstGeom prst="line">
            <a:avLst/>
          </a:prstGeom>
          <a:noFill/>
          <a:ln w="12700">
            <a:solidFill>
              <a:srgbClr val="E2E8F0"/>
            </a:solidFill>
            <a:prstDash val="solid"/>
          </a:ln>
        </p:spPr>
      </p:sp>
      <p:sp>
        <p:nvSpPr>
          <p:cNvPr id="14" name="Text 12"/>
          <p:cNvSpPr/>
          <p:nvPr/>
        </p:nvSpPr>
        <p:spPr>
          <a:xfrm>
            <a:off x="1005840" y="3520440"/>
            <a:ext cx="2862072" cy="2286000"/>
          </a:xfrm>
          <a:prstGeom prst="rect">
            <a:avLst/>
          </a:prstGeom>
          <a:noFill/>
          <a:ln/>
        </p:spPr>
        <p:txBody>
          <a:bodyPr wrap="square" rtlCol="0" anchor="ctr"/>
          <a:lstStyle/>
          <a:p>
            <a:pPr indent="0" marL="0">
              <a:lnSpc>
                <a:spcPts val="1600"/>
              </a:lnSpc>
              <a:buNone/>
            </a:pPr>
            <a:r>
              <a:rPr lang="en-US" sz="1100" dirty="0">
                <a:solidFill>
                  <a:srgbClr val="475569"/>
                </a:solidFill>
                <a:latin typeface="Arial" pitchFamily="34" charset="0"/>
                <a:ea typeface="Arial" pitchFamily="34" charset="-122"/>
                <a:cs typeface="Arial" pitchFamily="34" charset="-120"/>
              </a:rPr>
              <a:t>Patients leave OPD cabins with paper slips or complex instructions. Over 50% mismanage dose timings, skip vital antibiotic courses, or fail to follow dietary restrictions.</a:t>
            </a:r>
            <a:endParaRPr lang="en-US" sz="1100" dirty="0"/>
          </a:p>
        </p:txBody>
      </p:sp>
      <p:sp>
        <p:nvSpPr>
          <p:cNvPr id="15" name="Shape 13"/>
          <p:cNvSpPr/>
          <p:nvPr/>
        </p:nvSpPr>
        <p:spPr>
          <a:xfrm>
            <a:off x="4389120" y="1691640"/>
            <a:ext cx="3410712" cy="4389120"/>
          </a:xfrm>
          <a:prstGeom prst="roundRect">
            <a:avLst/>
          </a:prstGeom>
          <a:solidFill>
            <a:srgbClr val="FFFFFF"/>
          </a:solidFill>
          <a:ln w="19050">
            <a:solidFill>
              <a:srgbClr val="E2E8F0"/>
            </a:solidFill>
            <a:prstDash val="solid"/>
          </a:ln>
        </p:spPr>
      </p:sp>
      <p:sp>
        <p:nvSpPr>
          <p:cNvPr id="16" name="Shape 14"/>
          <p:cNvSpPr/>
          <p:nvPr/>
        </p:nvSpPr>
        <p:spPr>
          <a:xfrm>
            <a:off x="4663440" y="1920240"/>
            <a:ext cx="731520" cy="320040"/>
          </a:xfrm>
          <a:prstGeom prst="roundRect">
            <a:avLst/>
          </a:prstGeom>
          <a:solidFill>
            <a:srgbClr val="F59E0B"/>
          </a:solidFill>
          <a:ln/>
        </p:spPr>
      </p:sp>
      <p:sp>
        <p:nvSpPr>
          <p:cNvPr id="17" name="Text 15"/>
          <p:cNvSpPr/>
          <p:nvPr/>
        </p:nvSpPr>
        <p:spPr>
          <a:xfrm>
            <a:off x="4663440" y="1938528"/>
            <a:ext cx="73152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8" name="Text 16"/>
          <p:cNvSpPr/>
          <p:nvPr/>
        </p:nvSpPr>
        <p:spPr>
          <a:xfrm>
            <a:off x="4663440" y="2423160"/>
            <a:ext cx="2862072" cy="45720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Severe OPD Overcrowding</a:t>
            </a:r>
            <a:endParaRPr lang="en-US" sz="1600" dirty="0"/>
          </a:p>
        </p:txBody>
      </p:sp>
      <p:sp>
        <p:nvSpPr>
          <p:cNvPr id="19" name="Text 17"/>
          <p:cNvSpPr/>
          <p:nvPr/>
        </p:nvSpPr>
        <p:spPr>
          <a:xfrm>
            <a:off x="4663440" y="2926080"/>
            <a:ext cx="2862072"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&lt; 3 Min / Consultation</a:t>
            </a:r>
            <a:endParaRPr lang="en-US" sz="1300" dirty="0"/>
          </a:p>
        </p:txBody>
      </p:sp>
      <p:sp>
        <p:nvSpPr>
          <p:cNvPr id="20" name="Shape 18"/>
          <p:cNvSpPr/>
          <p:nvPr/>
        </p:nvSpPr>
        <p:spPr>
          <a:xfrm>
            <a:off x="4663440" y="3337560"/>
            <a:ext cx="2862072" cy="0"/>
          </a:xfrm>
          <a:prstGeom prst="line">
            <a:avLst/>
          </a:prstGeom>
          <a:noFill/>
          <a:ln w="12700">
            <a:solidFill>
              <a:srgbClr val="E2E8F0"/>
            </a:solidFill>
            <a:prstDash val="solid"/>
          </a:ln>
        </p:spPr>
      </p:sp>
      <p:sp>
        <p:nvSpPr>
          <p:cNvPr id="21" name="Text 19"/>
          <p:cNvSpPr/>
          <p:nvPr/>
        </p:nvSpPr>
        <p:spPr>
          <a:xfrm>
            <a:off x="4663440" y="3520440"/>
            <a:ext cx="2862072" cy="2286000"/>
          </a:xfrm>
          <a:prstGeom prst="rect">
            <a:avLst/>
          </a:prstGeom>
          <a:noFill/>
          <a:ln/>
        </p:spPr>
        <p:txBody>
          <a:bodyPr wrap="square" rtlCol="0" anchor="ctr"/>
          <a:lstStyle/>
          <a:p>
            <a:pPr indent="0" marL="0">
              <a:lnSpc>
                <a:spcPts val="1600"/>
              </a:lnSpc>
              <a:buNone/>
            </a:pPr>
            <a:r>
              <a:rPr lang="en-US" sz="1100" dirty="0">
                <a:solidFill>
                  <a:srgbClr val="475569"/>
                </a:solidFill>
                <a:latin typeface="Arial" pitchFamily="34" charset="0"/>
                <a:ea typeface="Arial" pitchFamily="34" charset="-122"/>
                <a:cs typeface="Arial" pitchFamily="34" charset="-120"/>
              </a:rPr>
              <a:t>Clinicians face 80+ patients daily. Doctors suffer severe clerical fatigue from clumsy EMR interfaces, paper searches, and repetitive manual documentation.</a:t>
            </a:r>
            <a:endParaRPr lang="en-US" sz="1100" dirty="0"/>
          </a:p>
        </p:txBody>
      </p:sp>
      <p:sp>
        <p:nvSpPr>
          <p:cNvPr id="22" name="Shape 20"/>
          <p:cNvSpPr/>
          <p:nvPr/>
        </p:nvSpPr>
        <p:spPr>
          <a:xfrm>
            <a:off x="8046720" y="1691640"/>
            <a:ext cx="3410712" cy="4389120"/>
          </a:xfrm>
          <a:prstGeom prst="roundRect">
            <a:avLst/>
          </a:prstGeom>
          <a:solidFill>
            <a:srgbClr val="FFFFFF"/>
          </a:solidFill>
          <a:ln w="19050">
            <a:solidFill>
              <a:srgbClr val="E2E8F0"/>
            </a:solidFill>
            <a:prstDash val="solid"/>
          </a:ln>
        </p:spPr>
      </p:sp>
      <p:sp>
        <p:nvSpPr>
          <p:cNvPr id="23" name="Shape 21"/>
          <p:cNvSpPr/>
          <p:nvPr/>
        </p:nvSpPr>
        <p:spPr>
          <a:xfrm>
            <a:off x="8321040" y="1920240"/>
            <a:ext cx="731520" cy="320040"/>
          </a:xfrm>
          <a:prstGeom prst="roundRect">
            <a:avLst/>
          </a:prstGeom>
          <a:solidFill>
            <a:srgbClr val="3B82F6"/>
          </a:solidFill>
          <a:ln/>
        </p:spPr>
      </p:sp>
      <p:sp>
        <p:nvSpPr>
          <p:cNvPr id="24" name="Text 22"/>
          <p:cNvSpPr/>
          <p:nvPr/>
        </p:nvSpPr>
        <p:spPr>
          <a:xfrm>
            <a:off x="8321040" y="1938528"/>
            <a:ext cx="73152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25" name="Text 23"/>
          <p:cNvSpPr/>
          <p:nvPr/>
        </p:nvSpPr>
        <p:spPr>
          <a:xfrm>
            <a:off x="8321040" y="2423160"/>
            <a:ext cx="2862072" cy="45720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Unprepared Follow-Ups</a:t>
            </a:r>
            <a:endParaRPr lang="en-US" sz="1600" dirty="0"/>
          </a:p>
        </p:txBody>
      </p:sp>
      <p:sp>
        <p:nvSpPr>
          <p:cNvPr id="26" name="Text 24"/>
          <p:cNvSpPr/>
          <p:nvPr/>
        </p:nvSpPr>
        <p:spPr>
          <a:xfrm>
            <a:off x="8321040" y="2926080"/>
            <a:ext cx="2862072" cy="32004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35% Wasted Revisits</a:t>
            </a:r>
            <a:endParaRPr lang="en-US" sz="1300" dirty="0"/>
          </a:p>
        </p:txBody>
      </p:sp>
      <p:sp>
        <p:nvSpPr>
          <p:cNvPr id="27" name="Shape 25"/>
          <p:cNvSpPr/>
          <p:nvPr/>
        </p:nvSpPr>
        <p:spPr>
          <a:xfrm>
            <a:off x="8321040" y="3337560"/>
            <a:ext cx="2862072" cy="0"/>
          </a:xfrm>
          <a:prstGeom prst="line">
            <a:avLst/>
          </a:prstGeom>
          <a:noFill/>
          <a:ln w="12700">
            <a:solidFill>
              <a:srgbClr val="E2E8F0"/>
            </a:solidFill>
            <a:prstDash val="solid"/>
          </a:ln>
        </p:spPr>
      </p:sp>
      <p:sp>
        <p:nvSpPr>
          <p:cNvPr id="28" name="Text 26"/>
          <p:cNvSpPr/>
          <p:nvPr/>
        </p:nvSpPr>
        <p:spPr>
          <a:xfrm>
            <a:off x="8321040" y="3520440"/>
            <a:ext cx="2862072" cy="2286000"/>
          </a:xfrm>
          <a:prstGeom prst="rect">
            <a:avLst/>
          </a:prstGeom>
          <a:noFill/>
          <a:ln/>
        </p:spPr>
        <p:txBody>
          <a:bodyPr wrap="square" rtlCol="0" anchor="ctr"/>
          <a:lstStyle/>
          <a:p>
            <a:pPr indent="0" marL="0">
              <a:lnSpc>
                <a:spcPts val="1600"/>
              </a:lnSpc>
              <a:buNone/>
            </a:pPr>
            <a:r>
              <a:rPr lang="en-US" sz="1100" dirty="0">
                <a:solidFill>
                  <a:srgbClr val="475569"/>
                </a:solidFill>
                <a:latin typeface="Arial" pitchFamily="34" charset="0"/>
                <a:ea typeface="Arial" pitchFamily="34" charset="-122"/>
                <a:cs typeface="Arial" pitchFamily="34" charset="-120"/>
              </a:rPr>
              <a:t>Patients arrive at follow-up visits having taken morning sugar meds before fasting blood tests, missing past prescription slips, or arriving at wrong clinic hours.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COMPETITIVE ADVANTAGE</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Existing Solutions vs. Veyora Healthcare Matrix</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Why current healthtech platforms fall short of closing the post-consultation loop</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725912" cy="4389120"/>
        </p:xfrm>
        <a:graphic>
          <a:graphicData uri="http://schemas.openxmlformats.org/drawingml/2006/table">
            <a:tbl>
              <a:tblPr/>
              <a:tblGrid>
                <a:gridCol w="2313432"/>
                <a:gridCol w="2103120"/>
                <a:gridCol w="2103120"/>
                <a:gridCol w="2103120"/>
                <a:gridCol w="2103120"/>
              </a:tblGrid>
              <a:tr h="627017">
                <a:tc>
                  <a:txBody>
                    <a:bodyPr/>
                    <a:lstStyle/>
                    <a:p>
                      <a:pPr algn="l" indent="0" marL="0">
                        <a:buNone/>
                      </a:pPr>
                      <a:r>
                        <a:rPr lang="en-US" sz="1000" b="1" dirty="0">
                          <a:solidFill>
                            <a:srgbClr val="FFFFFF"/>
                          </a:solidFill>
                        </a:rPr>
                        <a:t>Capability / Metric</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E2E8F0"/>
                          </a:solidFill>
                        </a:rPr>
                        <a:t>ABHA / ABDM</a:t>
                      </a:r>
                      <a:endParaRPr lang="en-US" sz="1000" dirty="0"/>
                    </a:p>
                    <a:p>
                      <a:pPr algn="ctr" indent="0" marL="0">
                        <a:buNone/>
                      </a:pPr>
                      <a:r>
                        <a:rPr lang="en-US" sz="1000" b="1" dirty="0">
                          <a:solidFill>
                            <a:srgbClr val="E2E8F0"/>
                          </a:solidFill>
                        </a:rPr>
                        <a:t>(Govt. Registry)</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34155"/>
                    </a:solidFill>
                  </a:tcPr>
                </a:tc>
                <a:tc>
                  <a:txBody>
                    <a:bodyPr/>
                    <a:lstStyle/>
                    <a:p>
                      <a:pPr algn="ctr" indent="0" marL="0">
                        <a:buNone/>
                      </a:pPr>
                      <a:r>
                        <a:rPr lang="en-US" sz="1000" b="1" dirty="0">
                          <a:solidFill>
                            <a:srgbClr val="E2E8F0"/>
                          </a:solidFill>
                        </a:rPr>
                        <a:t>Commercial Telehealth</a:t>
                      </a:r>
                      <a:endParaRPr lang="en-US" sz="1000" dirty="0"/>
                    </a:p>
                    <a:p>
                      <a:pPr algn="ctr" indent="0" marL="0">
                        <a:buNone/>
                      </a:pPr>
                      <a:r>
                        <a:rPr lang="en-US" sz="1000" b="1" dirty="0">
                          <a:solidFill>
                            <a:srgbClr val="E2E8F0"/>
                          </a:solidFill>
                        </a:rPr>
                        <a:t>(Practo / 1mg)</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34155"/>
                    </a:solidFill>
                  </a:tcPr>
                </a:tc>
                <a:tc>
                  <a:txBody>
                    <a:bodyPr/>
                    <a:lstStyle/>
                    <a:p>
                      <a:pPr algn="ctr" indent="0" marL="0">
                        <a:buNone/>
                      </a:pPr>
                      <a:r>
                        <a:rPr lang="en-US" sz="1000" b="1" dirty="0">
                          <a:solidFill>
                            <a:srgbClr val="E2E8F0"/>
                          </a:solidFill>
                        </a:rPr>
                        <a:t>Hospital EMRs</a:t>
                      </a:r>
                      <a:endParaRPr lang="en-US" sz="1000" dirty="0"/>
                    </a:p>
                    <a:p>
                      <a:pPr algn="ctr" indent="0" marL="0">
                        <a:buNone/>
                      </a:pPr>
                      <a:r>
                        <a:rPr lang="en-US" sz="1000" b="1" dirty="0">
                          <a:solidFill>
                            <a:srgbClr val="E2E8F0"/>
                          </a:solidFill>
                        </a:rPr>
                        <a:t>(Epic / Cerner)</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34155"/>
                    </a:solidFill>
                  </a:tcPr>
                </a:tc>
                <a:tc>
                  <a:txBody>
                    <a:bodyPr/>
                    <a:lstStyle/>
                    <a:p>
                      <a:pPr algn="ctr" indent="0" marL="0">
                        <a:buNone/>
                      </a:pPr>
                      <a:r>
                        <a:rPr lang="en-US" sz="1000" b="1" dirty="0">
                          <a:solidFill>
                            <a:srgbClr val="FFFFFF"/>
                          </a:solidFill>
                        </a:rPr>
                        <a:t>VEYORA HEALTHCARE</a:t>
                      </a:r>
                      <a:endParaRPr lang="en-US" sz="1000" dirty="0"/>
                    </a:p>
                    <a:p>
                      <a:pPr algn="ctr" indent="0" marL="0">
                        <a:buNone/>
                      </a:pPr>
                      <a:r>
                        <a:rPr lang="en-US" sz="1000" b="1" dirty="0">
                          <a:solidFill>
                            <a:srgbClr val="FFFFFF"/>
                          </a:solidFill>
                        </a:rPr>
                        <a:t>(Our MVP Platform)</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627017">
                <a:tc>
                  <a:txBody>
                    <a:bodyPr/>
                    <a:lstStyle/>
                    <a:p>
                      <a:pPr indent="0" marL="0">
                        <a:buNone/>
                      </a:pPr>
                      <a:r>
                        <a:rPr lang="en-US" sz="950" b="1" dirty="0">
                          <a:solidFill>
                            <a:srgbClr val="000000"/>
                          </a:solidFill>
                        </a:rPr>
                        <a:t>Core Functional Objective</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rPr>
                        <a:t>Static EHR Record Locker</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rPr>
                        <a:t>Doctor Discovery &amp; Sales</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rPr>
                        <a:t>Enterprise Billing &amp; Admin</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563EB"/>
                          </a:solidFill>
                        </a:rPr>
                        <a:t>Active Clinical Continuity</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627017">
                <a:tc>
                  <a:txBody>
                    <a:bodyPr/>
                    <a:lstStyle/>
                    <a:p>
                      <a:pPr indent="0" marL="0">
                        <a:buNone/>
                      </a:pPr>
                      <a:r>
                        <a:rPr lang="en-US" sz="950" b="1" dirty="0">
                          <a:solidFill>
                            <a:srgbClr val="000000"/>
                          </a:solidFill>
                        </a:rPr>
                        <a:t>Post-Visit Care Coordination</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None (Purely Passive)</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Limited to Commercial Ads</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Cluttered Patient Portal</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A34A"/>
                          </a:solidFill>
                        </a:rPr>
                        <a:t>Autonomous AI Coordinator</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627017">
                <a:tc>
                  <a:txBody>
                    <a:bodyPr/>
                    <a:lstStyle/>
                    <a:p>
                      <a:pPr indent="0" marL="0">
                        <a:buNone/>
                      </a:pPr>
                      <a:r>
                        <a:rPr lang="en-US" sz="950" b="1" dirty="0">
                          <a:solidFill>
                            <a:srgbClr val="000000"/>
                          </a:solidFill>
                        </a:rPr>
                        <a:t>Medication Dosing Telemetry</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No (Static PDF/XML)</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Manual alarms by user</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No daily tracking</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A34A"/>
                          </a:solidFill>
                        </a:rPr>
                        <a:t>Auto 3-Slot Telemetry (M/A/N)</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627017">
                <a:tc>
                  <a:txBody>
                    <a:bodyPr/>
                    <a:lstStyle/>
                    <a:p>
                      <a:pPr indent="0" marL="0">
                        <a:buNone/>
                      </a:pPr>
                      <a:r>
                        <a:rPr lang="en-US" sz="950" b="1" dirty="0">
                          <a:solidFill>
                            <a:srgbClr val="000000"/>
                          </a:solidFill>
                        </a:rPr>
                        <a:t>Proactive T-1 Follow-up Prep</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No fasting/prep alerts</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Generic SMS reminder only</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Automated email blast</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A34A"/>
                          </a:solidFill>
                        </a:rPr>
                        <a:t>24h Fasting, Meds &amp; Doc Prep</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627017">
                <a:tc>
                  <a:txBody>
                    <a:bodyPr/>
                    <a:lstStyle/>
                    <a:p>
                      <a:pPr indent="0" marL="0">
                        <a:buNone/>
                      </a:pPr>
                      <a:r>
                        <a:rPr lang="en-US" sz="950" b="1" dirty="0">
                          <a:solidFill>
                            <a:srgbClr val="000000"/>
                          </a:solidFill>
                        </a:rPr>
                        <a:t>Clinic Triage &amp; Hardware QR</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Manual 14-digit ABHA entry</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No OPD station triage</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Complex desktop check-in</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A34A"/>
                          </a:solidFill>
                        </a:rPr>
                        <a:t>Live Camera QR Token Scan</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627017">
                <a:tc>
                  <a:txBody>
                    <a:bodyPr/>
                    <a:lstStyle/>
                    <a:p>
                      <a:pPr indent="0" marL="0">
                        <a:buNone/>
                      </a:pPr>
                      <a:r>
                        <a:rPr lang="en-US" sz="950" b="1" dirty="0">
                          <a:solidFill>
                            <a:srgbClr val="000000"/>
                          </a:solidFill>
                        </a:rPr>
                        <a:t>Accessibility &amp; Multilingual</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Static forms</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97706"/>
                          </a:solidFill>
                        </a:rPr>
                        <a:t>App text primarily English</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DC2626"/>
                          </a:solidFill>
                        </a:rPr>
                        <a:t>Complex English terminology</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A34A"/>
                          </a:solidFill>
                        </a:rPr>
                        <a:t>Voice-Assisted Hindi &amp; English</a:t>
                      </a:r>
                      <a:endParaRPr lang="en-US" sz="9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SYSTEM ARCHITECTURE</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Tri-Pillar Architecture: Doctor, Patient &amp; Autonomous AI</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A modular, event-driven design connecting real-time clinical workflows with daily recovery</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3410712" cy="4389120"/>
          </a:xfrm>
          <a:prstGeom prst="roundRect">
            <a:avLst/>
          </a:prstGeom>
          <a:solidFill>
            <a:srgbClr val="EFF6FF"/>
          </a:solidFill>
          <a:ln w="19050">
            <a:solidFill>
              <a:srgbClr val="93C5FD"/>
            </a:solidFill>
            <a:prstDash val="solid"/>
          </a:ln>
        </p:spPr>
      </p:sp>
      <p:sp>
        <p:nvSpPr>
          <p:cNvPr id="9" name="Text 7"/>
          <p:cNvSpPr/>
          <p:nvPr/>
        </p:nvSpPr>
        <p:spPr>
          <a:xfrm>
            <a:off x="960120" y="1920240"/>
            <a:ext cx="2953512" cy="365760"/>
          </a:xfrm>
          <a:prstGeom prst="rect">
            <a:avLst/>
          </a:prstGeom>
          <a:noFill/>
          <a:ln/>
        </p:spPr>
        <p:txBody>
          <a:bodyPr wrap="square" rtlCol="0" anchor="ctr"/>
          <a:lstStyle/>
          <a:p>
            <a:pPr indent="0" marL="0">
              <a:buNone/>
            </a:pPr>
            <a:r>
              <a:rPr lang="en-US" sz="1500" b="1" dirty="0">
                <a:solidFill>
                  <a:srgbClr val="1D4ED8"/>
                </a:solidFill>
                <a:latin typeface="Arial" pitchFamily="34" charset="0"/>
                <a:ea typeface="Arial" pitchFamily="34" charset="-122"/>
                <a:cs typeface="Arial" pitchFamily="34" charset="-120"/>
              </a:rPr>
              <a:t>Pillar 1: Doctor Workstation</a:t>
            </a:r>
            <a:endParaRPr lang="en-US" sz="1500" dirty="0"/>
          </a:p>
        </p:txBody>
      </p:sp>
      <p:sp>
        <p:nvSpPr>
          <p:cNvPr id="10" name="Text 8"/>
          <p:cNvSpPr/>
          <p:nvPr/>
        </p:nvSpPr>
        <p:spPr>
          <a:xfrm>
            <a:off x="960120" y="2286000"/>
            <a:ext cx="2953512" cy="274320"/>
          </a:xfrm>
          <a:prstGeom prst="rect">
            <a:avLst/>
          </a:prstGeom>
          <a:noFill/>
          <a:ln/>
        </p:spPr>
        <p:txBody>
          <a:bodyPr wrap="square" rtlCol="0" anchor="ctr"/>
          <a:lstStyle/>
          <a:p>
            <a:pPr indent="0" marL="0">
              <a:buNone/>
            </a:pPr>
            <a:r>
              <a:rPr lang="en-US" sz="1050" b="1" dirty="0">
                <a:solidFill>
                  <a:srgbClr val="475569"/>
                </a:solidFill>
                <a:latin typeface="Arial" pitchFamily="34" charset="0"/>
                <a:ea typeface="Arial" pitchFamily="34" charset="-122"/>
                <a:cs typeface="Arial" pitchFamily="34" charset="-120"/>
              </a:rPr>
              <a:t>High-Density Clinical Cockpit</a:t>
            </a:r>
            <a:endParaRPr lang="en-US" sz="1050" dirty="0"/>
          </a:p>
        </p:txBody>
      </p:sp>
      <p:sp>
        <p:nvSpPr>
          <p:cNvPr id="11" name="Shape 9"/>
          <p:cNvSpPr/>
          <p:nvPr/>
        </p:nvSpPr>
        <p:spPr>
          <a:xfrm>
            <a:off x="960120" y="2651760"/>
            <a:ext cx="2953512" cy="0"/>
          </a:xfrm>
          <a:prstGeom prst="line">
            <a:avLst/>
          </a:prstGeom>
          <a:noFill/>
          <a:ln w="12700">
            <a:solidFill>
              <a:srgbClr val="93C5FD"/>
            </a:solidFill>
            <a:prstDash val="solid"/>
          </a:ln>
        </p:spPr>
      </p:sp>
      <p:sp>
        <p:nvSpPr>
          <p:cNvPr id="12" name="Shape 10"/>
          <p:cNvSpPr/>
          <p:nvPr/>
        </p:nvSpPr>
        <p:spPr>
          <a:xfrm>
            <a:off x="960120" y="2880360"/>
            <a:ext cx="91440" cy="91440"/>
          </a:xfrm>
          <a:prstGeom prst="ellipse">
            <a:avLst/>
          </a:prstGeom>
          <a:solidFill>
            <a:srgbClr val="1D4ED8"/>
          </a:solidFill>
          <a:ln/>
        </p:spPr>
      </p:sp>
      <p:sp>
        <p:nvSpPr>
          <p:cNvPr id="13" name="Text 11"/>
          <p:cNvSpPr/>
          <p:nvPr/>
        </p:nvSpPr>
        <p:spPr>
          <a:xfrm>
            <a:off x="1143000" y="2788920"/>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High-throughput OPD queue sequencing (Patient 1, Patient 2...)</a:t>
            </a:r>
            <a:endParaRPr lang="en-US" sz="1000" dirty="0"/>
          </a:p>
        </p:txBody>
      </p:sp>
      <p:sp>
        <p:nvSpPr>
          <p:cNvPr id="14" name="Shape 12"/>
          <p:cNvSpPr/>
          <p:nvPr/>
        </p:nvSpPr>
        <p:spPr>
          <a:xfrm>
            <a:off x="960120" y="3538728"/>
            <a:ext cx="91440" cy="91440"/>
          </a:xfrm>
          <a:prstGeom prst="ellipse">
            <a:avLst/>
          </a:prstGeom>
          <a:solidFill>
            <a:srgbClr val="1D4ED8"/>
          </a:solidFill>
          <a:ln/>
        </p:spPr>
      </p:sp>
      <p:sp>
        <p:nvSpPr>
          <p:cNvPr id="15" name="Text 13"/>
          <p:cNvSpPr/>
          <p:nvPr/>
        </p:nvSpPr>
        <p:spPr>
          <a:xfrm>
            <a:off x="1143000" y="3447288"/>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Live HTML5 camera QR barcode &amp; token scanner</a:t>
            </a:r>
            <a:endParaRPr lang="en-US" sz="1000" dirty="0"/>
          </a:p>
        </p:txBody>
      </p:sp>
      <p:sp>
        <p:nvSpPr>
          <p:cNvPr id="16" name="Shape 14"/>
          <p:cNvSpPr/>
          <p:nvPr/>
        </p:nvSpPr>
        <p:spPr>
          <a:xfrm>
            <a:off x="960120" y="4197096"/>
            <a:ext cx="91440" cy="91440"/>
          </a:xfrm>
          <a:prstGeom prst="ellipse">
            <a:avLst/>
          </a:prstGeom>
          <a:solidFill>
            <a:srgbClr val="1D4ED8"/>
          </a:solidFill>
          <a:ln/>
        </p:spPr>
      </p:sp>
      <p:sp>
        <p:nvSpPr>
          <p:cNvPr id="17" name="Text 15"/>
          <p:cNvSpPr/>
          <p:nvPr/>
        </p:nvSpPr>
        <p:spPr>
          <a:xfrm>
            <a:off x="1143000" y="4105656"/>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Dynamic clinical briefing &amp; past diagnostic history</a:t>
            </a:r>
            <a:endParaRPr lang="en-US" sz="1000" dirty="0"/>
          </a:p>
        </p:txBody>
      </p:sp>
      <p:sp>
        <p:nvSpPr>
          <p:cNvPr id="18" name="Shape 16"/>
          <p:cNvSpPr/>
          <p:nvPr/>
        </p:nvSpPr>
        <p:spPr>
          <a:xfrm>
            <a:off x="960120" y="4855464"/>
            <a:ext cx="91440" cy="91440"/>
          </a:xfrm>
          <a:prstGeom prst="ellipse">
            <a:avLst/>
          </a:prstGeom>
          <a:solidFill>
            <a:srgbClr val="1D4ED8"/>
          </a:solidFill>
          <a:ln/>
        </p:spPr>
      </p:sp>
      <p:sp>
        <p:nvSpPr>
          <p:cNvPr id="19" name="Text 17"/>
          <p:cNvSpPr/>
          <p:nvPr/>
        </p:nvSpPr>
        <p:spPr>
          <a:xfrm>
            <a:off x="1143000" y="4764024"/>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Prescription builder with multi-drug scheduling (1-0-1)</a:t>
            </a:r>
            <a:endParaRPr lang="en-US" sz="1000" dirty="0"/>
          </a:p>
        </p:txBody>
      </p:sp>
      <p:sp>
        <p:nvSpPr>
          <p:cNvPr id="20" name="Shape 18"/>
          <p:cNvSpPr/>
          <p:nvPr/>
        </p:nvSpPr>
        <p:spPr>
          <a:xfrm>
            <a:off x="960120" y="5513832"/>
            <a:ext cx="91440" cy="91440"/>
          </a:xfrm>
          <a:prstGeom prst="ellipse">
            <a:avLst/>
          </a:prstGeom>
          <a:solidFill>
            <a:srgbClr val="1D4ED8"/>
          </a:solidFill>
          <a:ln/>
        </p:spPr>
      </p:sp>
      <p:sp>
        <p:nvSpPr>
          <p:cNvPr id="21" name="Text 19"/>
          <p:cNvSpPr/>
          <p:nvPr/>
        </p:nvSpPr>
        <p:spPr>
          <a:xfrm>
            <a:off x="1143000" y="5422392"/>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Cryptographic sign-off locking for tamper-proof records</a:t>
            </a:r>
            <a:endParaRPr lang="en-US" sz="1000" dirty="0"/>
          </a:p>
        </p:txBody>
      </p:sp>
      <p:sp>
        <p:nvSpPr>
          <p:cNvPr id="22" name="Shape 20"/>
          <p:cNvSpPr/>
          <p:nvPr/>
        </p:nvSpPr>
        <p:spPr>
          <a:xfrm>
            <a:off x="4389120" y="1691640"/>
            <a:ext cx="3410712" cy="4389120"/>
          </a:xfrm>
          <a:prstGeom prst="roundRect">
            <a:avLst/>
          </a:prstGeom>
          <a:solidFill>
            <a:srgbClr val="F0FDF4"/>
          </a:solidFill>
          <a:ln w="19050">
            <a:solidFill>
              <a:srgbClr val="86EFAC"/>
            </a:solidFill>
            <a:prstDash val="solid"/>
          </a:ln>
        </p:spPr>
      </p:sp>
      <p:sp>
        <p:nvSpPr>
          <p:cNvPr id="23" name="Text 21"/>
          <p:cNvSpPr/>
          <p:nvPr/>
        </p:nvSpPr>
        <p:spPr>
          <a:xfrm>
            <a:off x="4617720" y="1920240"/>
            <a:ext cx="2953512" cy="365760"/>
          </a:xfrm>
          <a:prstGeom prst="rect">
            <a:avLst/>
          </a:prstGeom>
          <a:noFill/>
          <a:ln/>
        </p:spPr>
        <p:txBody>
          <a:bodyPr wrap="square" rtlCol="0" anchor="ctr"/>
          <a:lstStyle/>
          <a:p>
            <a:pPr indent="0" marL="0">
              <a:buNone/>
            </a:pPr>
            <a:r>
              <a:rPr lang="en-US" sz="1500" b="1" dirty="0">
                <a:solidFill>
                  <a:srgbClr val="15803D"/>
                </a:solidFill>
                <a:latin typeface="Arial" pitchFamily="34" charset="0"/>
                <a:ea typeface="Arial" pitchFamily="34" charset="-122"/>
                <a:cs typeface="Arial" pitchFamily="34" charset="-120"/>
              </a:rPr>
              <a:t>Pillar 2: Patient Portal</a:t>
            </a:r>
            <a:endParaRPr lang="en-US" sz="1500" dirty="0"/>
          </a:p>
        </p:txBody>
      </p:sp>
      <p:sp>
        <p:nvSpPr>
          <p:cNvPr id="24" name="Text 22"/>
          <p:cNvSpPr/>
          <p:nvPr/>
        </p:nvSpPr>
        <p:spPr>
          <a:xfrm>
            <a:off x="4617720" y="2286000"/>
            <a:ext cx="2953512" cy="274320"/>
          </a:xfrm>
          <a:prstGeom prst="rect">
            <a:avLst/>
          </a:prstGeom>
          <a:noFill/>
          <a:ln/>
        </p:spPr>
        <p:txBody>
          <a:bodyPr wrap="square" rtlCol="0" anchor="ctr"/>
          <a:lstStyle/>
          <a:p>
            <a:pPr indent="0" marL="0">
              <a:buNone/>
            </a:pPr>
            <a:r>
              <a:rPr lang="en-US" sz="1050" b="1" dirty="0">
                <a:solidFill>
                  <a:srgbClr val="475569"/>
                </a:solidFill>
                <a:latin typeface="Arial" pitchFamily="34" charset="0"/>
                <a:ea typeface="Arial" pitchFamily="34" charset="-122"/>
                <a:cs typeface="Arial" pitchFamily="34" charset="-120"/>
              </a:rPr>
              <a:t>Accessible, Multilingual Experience</a:t>
            </a:r>
            <a:endParaRPr lang="en-US" sz="1050" dirty="0"/>
          </a:p>
        </p:txBody>
      </p:sp>
      <p:sp>
        <p:nvSpPr>
          <p:cNvPr id="25" name="Shape 23"/>
          <p:cNvSpPr/>
          <p:nvPr/>
        </p:nvSpPr>
        <p:spPr>
          <a:xfrm>
            <a:off x="4617720" y="2651760"/>
            <a:ext cx="2953512" cy="0"/>
          </a:xfrm>
          <a:prstGeom prst="line">
            <a:avLst/>
          </a:prstGeom>
          <a:noFill/>
          <a:ln w="12700">
            <a:solidFill>
              <a:srgbClr val="86EFAC"/>
            </a:solidFill>
            <a:prstDash val="solid"/>
          </a:ln>
        </p:spPr>
      </p:sp>
      <p:sp>
        <p:nvSpPr>
          <p:cNvPr id="26" name="Shape 24"/>
          <p:cNvSpPr/>
          <p:nvPr/>
        </p:nvSpPr>
        <p:spPr>
          <a:xfrm>
            <a:off x="4617720" y="2880360"/>
            <a:ext cx="91440" cy="91440"/>
          </a:xfrm>
          <a:prstGeom prst="ellipse">
            <a:avLst/>
          </a:prstGeom>
          <a:solidFill>
            <a:srgbClr val="15803D"/>
          </a:solidFill>
          <a:ln/>
        </p:spPr>
      </p:sp>
      <p:sp>
        <p:nvSpPr>
          <p:cNvPr id="27" name="Text 25"/>
          <p:cNvSpPr/>
          <p:nvPr/>
        </p:nvSpPr>
        <p:spPr>
          <a:xfrm>
            <a:off x="4800600" y="2788920"/>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Voice-assisted digital symptom intake in Hindi &amp; English</a:t>
            </a:r>
            <a:endParaRPr lang="en-US" sz="1000" dirty="0"/>
          </a:p>
        </p:txBody>
      </p:sp>
      <p:sp>
        <p:nvSpPr>
          <p:cNvPr id="28" name="Shape 26"/>
          <p:cNvSpPr/>
          <p:nvPr/>
        </p:nvSpPr>
        <p:spPr>
          <a:xfrm>
            <a:off x="4617720" y="3538728"/>
            <a:ext cx="91440" cy="91440"/>
          </a:xfrm>
          <a:prstGeom prst="ellipse">
            <a:avLst/>
          </a:prstGeom>
          <a:solidFill>
            <a:srgbClr val="15803D"/>
          </a:solidFill>
          <a:ln/>
        </p:spPr>
      </p:sp>
      <p:sp>
        <p:nvSpPr>
          <p:cNvPr id="29" name="Text 27"/>
          <p:cNvSpPr/>
          <p:nvPr/>
        </p:nvSpPr>
        <p:spPr>
          <a:xfrm>
            <a:off x="4800600" y="3447288"/>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Contactless, cryptographically signed Consent QR Pass</a:t>
            </a:r>
            <a:endParaRPr lang="en-US" sz="1000" dirty="0"/>
          </a:p>
        </p:txBody>
      </p:sp>
      <p:sp>
        <p:nvSpPr>
          <p:cNvPr id="30" name="Shape 28"/>
          <p:cNvSpPr/>
          <p:nvPr/>
        </p:nvSpPr>
        <p:spPr>
          <a:xfrm>
            <a:off x="4617720" y="4197096"/>
            <a:ext cx="91440" cy="91440"/>
          </a:xfrm>
          <a:prstGeom prst="ellipse">
            <a:avLst/>
          </a:prstGeom>
          <a:solidFill>
            <a:srgbClr val="15803D"/>
          </a:solidFill>
          <a:ln/>
        </p:spPr>
      </p:sp>
      <p:sp>
        <p:nvSpPr>
          <p:cNvPr id="31" name="Text 29"/>
          <p:cNvSpPr/>
          <p:nvPr/>
        </p:nvSpPr>
        <p:spPr>
          <a:xfrm>
            <a:off x="4800600" y="4105656"/>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Real-time prescription &amp; diagnosis result viewer</a:t>
            </a:r>
            <a:endParaRPr lang="en-US" sz="1000" dirty="0"/>
          </a:p>
        </p:txBody>
      </p:sp>
      <p:sp>
        <p:nvSpPr>
          <p:cNvPr id="32" name="Shape 30"/>
          <p:cNvSpPr/>
          <p:nvPr/>
        </p:nvSpPr>
        <p:spPr>
          <a:xfrm>
            <a:off x="4617720" y="4855464"/>
            <a:ext cx="91440" cy="91440"/>
          </a:xfrm>
          <a:prstGeom prst="ellipse">
            <a:avLst/>
          </a:prstGeom>
          <a:solidFill>
            <a:srgbClr val="15803D"/>
          </a:solidFill>
          <a:ln/>
        </p:spPr>
      </p:sp>
      <p:sp>
        <p:nvSpPr>
          <p:cNvPr id="33" name="Text 31"/>
          <p:cNvSpPr/>
          <p:nvPr/>
        </p:nvSpPr>
        <p:spPr>
          <a:xfrm>
            <a:off x="4800600" y="4764024"/>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Timeline-based visit history &amp; diagnostic trends</a:t>
            </a:r>
            <a:endParaRPr lang="en-US" sz="1000" dirty="0"/>
          </a:p>
        </p:txBody>
      </p:sp>
      <p:sp>
        <p:nvSpPr>
          <p:cNvPr id="34" name="Shape 32"/>
          <p:cNvSpPr/>
          <p:nvPr/>
        </p:nvSpPr>
        <p:spPr>
          <a:xfrm>
            <a:off x="4617720" y="5513832"/>
            <a:ext cx="91440" cy="91440"/>
          </a:xfrm>
          <a:prstGeom prst="ellipse">
            <a:avLst/>
          </a:prstGeom>
          <a:solidFill>
            <a:srgbClr val="15803D"/>
          </a:solidFill>
          <a:ln/>
        </p:spPr>
      </p:sp>
      <p:sp>
        <p:nvSpPr>
          <p:cNvPr id="35" name="Text 33"/>
          <p:cNvSpPr/>
          <p:nvPr/>
        </p:nvSpPr>
        <p:spPr>
          <a:xfrm>
            <a:off x="4800600" y="5422392"/>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Zero raw PII exposure on physical tokens</a:t>
            </a:r>
            <a:endParaRPr lang="en-US" sz="1000" dirty="0"/>
          </a:p>
        </p:txBody>
      </p:sp>
      <p:sp>
        <p:nvSpPr>
          <p:cNvPr id="36" name="Shape 34"/>
          <p:cNvSpPr/>
          <p:nvPr/>
        </p:nvSpPr>
        <p:spPr>
          <a:xfrm>
            <a:off x="8046720" y="1691640"/>
            <a:ext cx="3410712" cy="4389120"/>
          </a:xfrm>
          <a:prstGeom prst="roundRect">
            <a:avLst/>
          </a:prstGeom>
          <a:solidFill>
            <a:srgbClr val="FAF5FF"/>
          </a:solidFill>
          <a:ln w="19050">
            <a:solidFill>
              <a:srgbClr val="D8B4FE"/>
            </a:solidFill>
            <a:prstDash val="solid"/>
          </a:ln>
        </p:spPr>
      </p:sp>
      <p:sp>
        <p:nvSpPr>
          <p:cNvPr id="37" name="Text 35"/>
          <p:cNvSpPr/>
          <p:nvPr/>
        </p:nvSpPr>
        <p:spPr>
          <a:xfrm>
            <a:off x="8275320" y="1920240"/>
            <a:ext cx="2953512" cy="365760"/>
          </a:xfrm>
          <a:prstGeom prst="rect">
            <a:avLst/>
          </a:prstGeom>
          <a:noFill/>
          <a:ln/>
        </p:spPr>
        <p:txBody>
          <a:bodyPr wrap="square" rtlCol="0" anchor="ctr"/>
          <a:lstStyle/>
          <a:p>
            <a:pPr indent="0" marL="0">
              <a:buNone/>
            </a:pPr>
            <a:r>
              <a:rPr lang="en-US" sz="1500" b="1" dirty="0">
                <a:solidFill>
                  <a:srgbClr val="7E22CE"/>
                </a:solidFill>
                <a:latin typeface="Arial" pitchFamily="34" charset="0"/>
                <a:ea typeface="Arial" pitchFamily="34" charset="-122"/>
                <a:cs typeface="Arial" pitchFamily="34" charset="-120"/>
              </a:rPr>
              <a:t>Pillar 3: AI Care Coordinator</a:t>
            </a:r>
            <a:endParaRPr lang="en-US" sz="1500" dirty="0"/>
          </a:p>
        </p:txBody>
      </p:sp>
      <p:sp>
        <p:nvSpPr>
          <p:cNvPr id="38" name="Text 36"/>
          <p:cNvSpPr/>
          <p:nvPr/>
        </p:nvSpPr>
        <p:spPr>
          <a:xfrm>
            <a:off x="8275320" y="2286000"/>
            <a:ext cx="2953512" cy="274320"/>
          </a:xfrm>
          <a:prstGeom prst="rect">
            <a:avLst/>
          </a:prstGeom>
          <a:noFill/>
          <a:ln/>
        </p:spPr>
        <p:txBody>
          <a:bodyPr wrap="square" rtlCol="0" anchor="ctr"/>
          <a:lstStyle/>
          <a:p>
            <a:pPr indent="0" marL="0">
              <a:buNone/>
            </a:pPr>
            <a:r>
              <a:rPr lang="en-US" sz="1050" b="1" dirty="0">
                <a:solidFill>
                  <a:srgbClr val="475569"/>
                </a:solidFill>
                <a:latin typeface="Arial" pitchFamily="34" charset="0"/>
                <a:ea typeface="Arial" pitchFamily="34" charset="-122"/>
                <a:cs typeface="Arial" pitchFamily="34" charset="-120"/>
              </a:rPr>
              <a:t>Autonomous Recovery Engine</a:t>
            </a:r>
            <a:endParaRPr lang="en-US" sz="1050" dirty="0"/>
          </a:p>
        </p:txBody>
      </p:sp>
      <p:sp>
        <p:nvSpPr>
          <p:cNvPr id="39" name="Shape 37"/>
          <p:cNvSpPr/>
          <p:nvPr/>
        </p:nvSpPr>
        <p:spPr>
          <a:xfrm>
            <a:off x="8275320" y="2651760"/>
            <a:ext cx="2953512" cy="0"/>
          </a:xfrm>
          <a:prstGeom prst="line">
            <a:avLst/>
          </a:prstGeom>
          <a:noFill/>
          <a:ln w="12700">
            <a:solidFill>
              <a:srgbClr val="D8B4FE"/>
            </a:solidFill>
            <a:prstDash val="solid"/>
          </a:ln>
        </p:spPr>
      </p:sp>
      <p:sp>
        <p:nvSpPr>
          <p:cNvPr id="40" name="Shape 38"/>
          <p:cNvSpPr/>
          <p:nvPr/>
        </p:nvSpPr>
        <p:spPr>
          <a:xfrm>
            <a:off x="8275320" y="2880360"/>
            <a:ext cx="91440" cy="91440"/>
          </a:xfrm>
          <a:prstGeom prst="ellipse">
            <a:avLst/>
          </a:prstGeom>
          <a:solidFill>
            <a:srgbClr val="7E22CE"/>
          </a:solidFill>
          <a:ln/>
        </p:spPr>
      </p:sp>
      <p:sp>
        <p:nvSpPr>
          <p:cNvPr id="41" name="Text 39"/>
          <p:cNvSpPr/>
          <p:nvPr/>
        </p:nvSpPr>
        <p:spPr>
          <a:xfrm>
            <a:off x="8458200" y="2788920"/>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Automatic 3-slot daily dose telemetry tracking (M/A/N)</a:t>
            </a:r>
            <a:endParaRPr lang="en-US" sz="1000" dirty="0"/>
          </a:p>
        </p:txBody>
      </p:sp>
      <p:sp>
        <p:nvSpPr>
          <p:cNvPr id="42" name="Shape 40"/>
          <p:cNvSpPr/>
          <p:nvPr/>
        </p:nvSpPr>
        <p:spPr>
          <a:xfrm>
            <a:off x="8275320" y="3538728"/>
            <a:ext cx="91440" cy="91440"/>
          </a:xfrm>
          <a:prstGeom prst="ellipse">
            <a:avLst/>
          </a:prstGeom>
          <a:solidFill>
            <a:srgbClr val="7E22CE"/>
          </a:solidFill>
          <a:ln/>
        </p:spPr>
      </p:sp>
      <p:sp>
        <p:nvSpPr>
          <p:cNvPr id="43" name="Text 41"/>
          <p:cNvSpPr/>
          <p:nvPr/>
        </p:nvSpPr>
        <p:spPr>
          <a:xfrm>
            <a:off x="8458200" y="3447288"/>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Condition-specific precaution &amp; lifestyle synthesis (Diabetes, HTN)</a:t>
            </a:r>
            <a:endParaRPr lang="en-US" sz="1000" dirty="0"/>
          </a:p>
        </p:txBody>
      </p:sp>
      <p:sp>
        <p:nvSpPr>
          <p:cNvPr id="44" name="Shape 42"/>
          <p:cNvSpPr/>
          <p:nvPr/>
        </p:nvSpPr>
        <p:spPr>
          <a:xfrm>
            <a:off x="8275320" y="4197096"/>
            <a:ext cx="91440" cy="91440"/>
          </a:xfrm>
          <a:prstGeom prst="ellipse">
            <a:avLst/>
          </a:prstGeom>
          <a:solidFill>
            <a:srgbClr val="7E22CE"/>
          </a:solidFill>
          <a:ln/>
        </p:spPr>
      </p:sp>
      <p:sp>
        <p:nvSpPr>
          <p:cNvPr id="45" name="Text 43"/>
          <p:cNvSpPr/>
          <p:nvPr/>
        </p:nvSpPr>
        <p:spPr>
          <a:xfrm>
            <a:off x="8458200" y="4105656"/>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Proactive T-1 24-hour pre-consultation fasting checklist</a:t>
            </a:r>
            <a:endParaRPr lang="en-US" sz="1000" dirty="0"/>
          </a:p>
        </p:txBody>
      </p:sp>
      <p:sp>
        <p:nvSpPr>
          <p:cNvPr id="46" name="Shape 44"/>
          <p:cNvSpPr/>
          <p:nvPr/>
        </p:nvSpPr>
        <p:spPr>
          <a:xfrm>
            <a:off x="8275320" y="4855464"/>
            <a:ext cx="91440" cy="91440"/>
          </a:xfrm>
          <a:prstGeom prst="ellipse">
            <a:avLst/>
          </a:prstGeom>
          <a:solidFill>
            <a:srgbClr val="7E22CE"/>
          </a:solidFill>
          <a:ln/>
        </p:spPr>
      </p:sp>
      <p:sp>
        <p:nvSpPr>
          <p:cNvPr id="47" name="Text 45"/>
          <p:cNvSpPr/>
          <p:nvPr/>
        </p:nvSpPr>
        <p:spPr>
          <a:xfrm>
            <a:off x="8458200" y="4764024"/>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Bilingual AI Q&amp;A bot with clinical safety guardrails</a:t>
            </a:r>
            <a:endParaRPr lang="en-US" sz="1000" dirty="0"/>
          </a:p>
        </p:txBody>
      </p:sp>
      <p:sp>
        <p:nvSpPr>
          <p:cNvPr id="48" name="Shape 46"/>
          <p:cNvSpPr/>
          <p:nvPr/>
        </p:nvSpPr>
        <p:spPr>
          <a:xfrm>
            <a:off x="8275320" y="5513832"/>
            <a:ext cx="91440" cy="91440"/>
          </a:xfrm>
          <a:prstGeom prst="ellipse">
            <a:avLst/>
          </a:prstGeom>
          <a:solidFill>
            <a:srgbClr val="7E22CE"/>
          </a:solidFill>
          <a:ln/>
        </p:spPr>
      </p:sp>
      <p:sp>
        <p:nvSpPr>
          <p:cNvPr id="49" name="Text 47"/>
          <p:cNvSpPr/>
          <p:nvPr/>
        </p:nvSpPr>
        <p:spPr>
          <a:xfrm>
            <a:off x="8458200" y="5422392"/>
            <a:ext cx="2743200" cy="594360"/>
          </a:xfrm>
          <a:prstGeom prst="rect">
            <a:avLst/>
          </a:prstGeom>
          <a:noFill/>
          <a:ln/>
        </p:spPr>
        <p:txBody>
          <a:bodyPr wrap="square" rtlCol="0" anchor="ctr"/>
          <a:lstStyle/>
          <a:p>
            <a:pPr indent="0" marL="0">
              <a:lnSpc>
                <a:spcPts val="1300"/>
              </a:lnSpc>
              <a:buNone/>
            </a:pPr>
            <a:r>
              <a:rPr lang="en-US" sz="1000" dirty="0">
                <a:solidFill>
                  <a:srgbClr val="0F172A"/>
                </a:solidFill>
                <a:latin typeface="Arial" pitchFamily="34" charset="0"/>
                <a:ea typeface="Arial" pitchFamily="34" charset="-122"/>
                <a:cs typeface="Arial" pitchFamily="34" charset="-120"/>
              </a:rPr>
              <a:t>Hourly background cron daemon auto-escalating missed care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PRODUCT WORKFLOW</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The 5-Stage End-to-End Clinical &amp; Recovery Workflow</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How a single patient interaction moves seamlessly from intake to clinic to home recovery</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2029968" cy="4389120"/>
          </a:xfrm>
          <a:prstGeom prst="roundRect">
            <a:avLst/>
          </a:prstGeom>
          <a:solidFill>
            <a:srgbClr val="FFFFFF"/>
          </a:solidFill>
          <a:ln w="19050">
            <a:solidFill>
              <a:srgbClr val="E2E8F0"/>
            </a:solidFill>
            <a:prstDash val="solid"/>
          </a:ln>
        </p:spPr>
      </p:sp>
      <p:sp>
        <p:nvSpPr>
          <p:cNvPr id="9" name="Shape 7"/>
          <p:cNvSpPr/>
          <p:nvPr/>
        </p:nvSpPr>
        <p:spPr>
          <a:xfrm>
            <a:off x="868680" y="1874520"/>
            <a:ext cx="1755648" cy="320040"/>
          </a:xfrm>
          <a:prstGeom prst="roundRect">
            <a:avLst/>
          </a:prstGeom>
          <a:solidFill>
            <a:srgbClr val="2563EB"/>
          </a:solidFill>
          <a:ln/>
        </p:spPr>
      </p:sp>
      <p:sp>
        <p:nvSpPr>
          <p:cNvPr id="10" name="Text 8"/>
          <p:cNvSpPr/>
          <p:nvPr/>
        </p:nvSpPr>
        <p:spPr>
          <a:xfrm>
            <a:off x="868680" y="1901952"/>
            <a:ext cx="1755648"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01</a:t>
            </a:r>
            <a:endParaRPr lang="en-US" sz="1000" dirty="0"/>
          </a:p>
        </p:txBody>
      </p:sp>
      <p:sp>
        <p:nvSpPr>
          <p:cNvPr id="11" name="Text 9"/>
          <p:cNvSpPr/>
          <p:nvPr/>
        </p:nvSpPr>
        <p:spPr>
          <a:xfrm>
            <a:off x="868680" y="2331720"/>
            <a:ext cx="1755648"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Intake &amp; QR Pass</a:t>
            </a:r>
            <a:endParaRPr lang="en-US" sz="1300" dirty="0"/>
          </a:p>
        </p:txBody>
      </p:sp>
      <p:sp>
        <p:nvSpPr>
          <p:cNvPr id="12" name="Text 10"/>
          <p:cNvSpPr/>
          <p:nvPr/>
        </p:nvSpPr>
        <p:spPr>
          <a:xfrm>
            <a:off x="868680" y="2834640"/>
            <a:ext cx="1755648" cy="228600"/>
          </a:xfrm>
          <a:prstGeom prst="rect">
            <a:avLst/>
          </a:prstGeom>
          <a:noFill/>
          <a:ln/>
        </p:spPr>
        <p:txBody>
          <a:bodyPr wrap="square" rtlCol="0" anchor="ctr"/>
          <a:lstStyle/>
          <a:p>
            <a:pPr algn="ctr" indent="0" marL="0">
              <a:buNone/>
            </a:pPr>
            <a:r>
              <a:rPr lang="en-US" sz="950" b="1" dirty="0">
                <a:solidFill>
                  <a:srgbClr val="2563EB"/>
                </a:solidFill>
                <a:latin typeface="Arial" pitchFamily="34" charset="0"/>
                <a:ea typeface="Arial" pitchFamily="34" charset="-122"/>
                <a:cs typeface="Arial" pitchFamily="34" charset="-120"/>
              </a:rPr>
              <a:t>Patient Portal</a:t>
            </a:r>
            <a:endParaRPr lang="en-US" sz="950" dirty="0"/>
          </a:p>
        </p:txBody>
      </p:sp>
      <p:sp>
        <p:nvSpPr>
          <p:cNvPr id="13" name="Shape 11"/>
          <p:cNvSpPr/>
          <p:nvPr/>
        </p:nvSpPr>
        <p:spPr>
          <a:xfrm>
            <a:off x="914400" y="3154680"/>
            <a:ext cx="1664208" cy="0"/>
          </a:xfrm>
          <a:prstGeom prst="line">
            <a:avLst/>
          </a:prstGeom>
          <a:noFill/>
          <a:ln w="12700">
            <a:solidFill>
              <a:srgbClr val="E2E8F0"/>
            </a:solidFill>
            <a:prstDash val="solid"/>
          </a:ln>
        </p:spPr>
      </p:sp>
      <p:sp>
        <p:nvSpPr>
          <p:cNvPr id="14" name="Text 12"/>
          <p:cNvSpPr/>
          <p:nvPr/>
        </p:nvSpPr>
        <p:spPr>
          <a:xfrm>
            <a:off x="868680" y="3337560"/>
            <a:ext cx="1755648" cy="256032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Patient describes chief complaints via voice or text in Hindi/English. Generates an encrypted QR token pass.</a:t>
            </a:r>
            <a:endParaRPr lang="en-US" sz="1000" dirty="0"/>
          </a:p>
        </p:txBody>
      </p:sp>
      <p:sp>
        <p:nvSpPr>
          <p:cNvPr id="15" name="Shape 13"/>
          <p:cNvSpPr/>
          <p:nvPr/>
        </p:nvSpPr>
        <p:spPr>
          <a:xfrm>
            <a:off x="2907792" y="1691640"/>
            <a:ext cx="2029968" cy="4389120"/>
          </a:xfrm>
          <a:prstGeom prst="roundRect">
            <a:avLst/>
          </a:prstGeom>
          <a:solidFill>
            <a:srgbClr val="FFFFFF"/>
          </a:solidFill>
          <a:ln w="19050">
            <a:solidFill>
              <a:srgbClr val="E2E8F0"/>
            </a:solidFill>
            <a:prstDash val="solid"/>
          </a:ln>
        </p:spPr>
      </p:sp>
      <p:sp>
        <p:nvSpPr>
          <p:cNvPr id="16" name="Shape 14"/>
          <p:cNvSpPr/>
          <p:nvPr/>
        </p:nvSpPr>
        <p:spPr>
          <a:xfrm>
            <a:off x="3044952" y="1874520"/>
            <a:ext cx="1755648" cy="320040"/>
          </a:xfrm>
          <a:prstGeom prst="roundRect">
            <a:avLst/>
          </a:prstGeom>
          <a:solidFill>
            <a:srgbClr val="0D9488"/>
          </a:solidFill>
          <a:ln/>
        </p:spPr>
      </p:sp>
      <p:sp>
        <p:nvSpPr>
          <p:cNvPr id="17" name="Text 15"/>
          <p:cNvSpPr/>
          <p:nvPr/>
        </p:nvSpPr>
        <p:spPr>
          <a:xfrm>
            <a:off x="3044952" y="1901952"/>
            <a:ext cx="1755648"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02</a:t>
            </a:r>
            <a:endParaRPr lang="en-US" sz="1000" dirty="0"/>
          </a:p>
        </p:txBody>
      </p:sp>
      <p:sp>
        <p:nvSpPr>
          <p:cNvPr id="18" name="Text 16"/>
          <p:cNvSpPr/>
          <p:nvPr/>
        </p:nvSpPr>
        <p:spPr>
          <a:xfrm>
            <a:off x="3044952" y="2331720"/>
            <a:ext cx="1755648"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OPD Queue &amp; Scan</a:t>
            </a:r>
            <a:endParaRPr lang="en-US" sz="1300" dirty="0"/>
          </a:p>
        </p:txBody>
      </p:sp>
      <p:sp>
        <p:nvSpPr>
          <p:cNvPr id="19" name="Text 17"/>
          <p:cNvSpPr/>
          <p:nvPr/>
        </p:nvSpPr>
        <p:spPr>
          <a:xfrm>
            <a:off x="3044952" y="2834640"/>
            <a:ext cx="1755648" cy="228600"/>
          </a:xfrm>
          <a:prstGeom prst="rect">
            <a:avLst/>
          </a:prstGeom>
          <a:noFill/>
          <a:ln/>
        </p:spPr>
        <p:txBody>
          <a:bodyPr wrap="square" rtlCol="0" anchor="ctr"/>
          <a:lstStyle/>
          <a:p>
            <a:pPr algn="ctr" indent="0" marL="0">
              <a:buNone/>
            </a:pPr>
            <a:r>
              <a:rPr lang="en-US" sz="950" b="1" dirty="0">
                <a:solidFill>
                  <a:srgbClr val="0D9488"/>
                </a:solidFill>
                <a:latin typeface="Arial" pitchFamily="34" charset="0"/>
                <a:ea typeface="Arial" pitchFamily="34" charset="-122"/>
                <a:cs typeface="Arial" pitchFamily="34" charset="-120"/>
              </a:rPr>
              <a:t>Doctor Workstation</a:t>
            </a:r>
            <a:endParaRPr lang="en-US" sz="950" dirty="0"/>
          </a:p>
        </p:txBody>
      </p:sp>
      <p:sp>
        <p:nvSpPr>
          <p:cNvPr id="20" name="Shape 18"/>
          <p:cNvSpPr/>
          <p:nvPr/>
        </p:nvSpPr>
        <p:spPr>
          <a:xfrm>
            <a:off x="3090672" y="3154680"/>
            <a:ext cx="1664208" cy="0"/>
          </a:xfrm>
          <a:prstGeom prst="line">
            <a:avLst/>
          </a:prstGeom>
          <a:noFill/>
          <a:ln w="12700">
            <a:solidFill>
              <a:srgbClr val="E2E8F0"/>
            </a:solidFill>
            <a:prstDash val="solid"/>
          </a:ln>
        </p:spPr>
      </p:sp>
      <p:sp>
        <p:nvSpPr>
          <p:cNvPr id="21" name="Text 19"/>
          <p:cNvSpPr/>
          <p:nvPr/>
        </p:nvSpPr>
        <p:spPr>
          <a:xfrm>
            <a:off x="3044952" y="3337560"/>
            <a:ext cx="1755648" cy="256032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Clinician scans physical QR pass via live web camera. Anonymized patient briefing and vitals load in sub-second.</a:t>
            </a:r>
            <a:endParaRPr lang="en-US" sz="1000" dirty="0"/>
          </a:p>
        </p:txBody>
      </p:sp>
      <p:sp>
        <p:nvSpPr>
          <p:cNvPr id="22" name="Shape 20"/>
          <p:cNvSpPr/>
          <p:nvPr/>
        </p:nvSpPr>
        <p:spPr>
          <a:xfrm>
            <a:off x="5084064" y="1691640"/>
            <a:ext cx="2029968" cy="4389120"/>
          </a:xfrm>
          <a:prstGeom prst="roundRect">
            <a:avLst/>
          </a:prstGeom>
          <a:solidFill>
            <a:srgbClr val="FFFFFF"/>
          </a:solidFill>
          <a:ln w="19050">
            <a:solidFill>
              <a:srgbClr val="E2E8F0"/>
            </a:solidFill>
            <a:prstDash val="solid"/>
          </a:ln>
        </p:spPr>
      </p:sp>
      <p:sp>
        <p:nvSpPr>
          <p:cNvPr id="23" name="Shape 21"/>
          <p:cNvSpPr/>
          <p:nvPr/>
        </p:nvSpPr>
        <p:spPr>
          <a:xfrm>
            <a:off x="5221224" y="1874520"/>
            <a:ext cx="1755648" cy="320040"/>
          </a:xfrm>
          <a:prstGeom prst="roundRect">
            <a:avLst/>
          </a:prstGeom>
          <a:solidFill>
            <a:srgbClr val="4F46E5"/>
          </a:solidFill>
          <a:ln/>
        </p:spPr>
      </p:sp>
      <p:sp>
        <p:nvSpPr>
          <p:cNvPr id="24" name="Text 22"/>
          <p:cNvSpPr/>
          <p:nvPr/>
        </p:nvSpPr>
        <p:spPr>
          <a:xfrm>
            <a:off x="5221224" y="1901952"/>
            <a:ext cx="1755648"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03</a:t>
            </a:r>
            <a:endParaRPr lang="en-US" sz="1000" dirty="0"/>
          </a:p>
        </p:txBody>
      </p:sp>
      <p:sp>
        <p:nvSpPr>
          <p:cNvPr id="25" name="Text 23"/>
          <p:cNvSpPr/>
          <p:nvPr/>
        </p:nvSpPr>
        <p:spPr>
          <a:xfrm>
            <a:off x="5221224" y="2331720"/>
            <a:ext cx="1755648"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Consult &amp; Sign-Off</a:t>
            </a:r>
            <a:endParaRPr lang="en-US" sz="1300" dirty="0"/>
          </a:p>
        </p:txBody>
      </p:sp>
      <p:sp>
        <p:nvSpPr>
          <p:cNvPr id="26" name="Text 24"/>
          <p:cNvSpPr/>
          <p:nvPr/>
        </p:nvSpPr>
        <p:spPr>
          <a:xfrm>
            <a:off x="5221224" y="2834640"/>
            <a:ext cx="1755648" cy="228600"/>
          </a:xfrm>
          <a:prstGeom prst="rect">
            <a:avLst/>
          </a:prstGeom>
          <a:noFill/>
          <a:ln/>
        </p:spPr>
        <p:txBody>
          <a:bodyPr wrap="square" rtlCol="0" anchor="ctr"/>
          <a:lstStyle/>
          <a:p>
            <a:pPr algn="ctr" indent="0" marL="0">
              <a:buNone/>
            </a:pPr>
            <a:r>
              <a:rPr lang="en-US" sz="950" b="1" dirty="0">
                <a:solidFill>
                  <a:srgbClr val="4F46E5"/>
                </a:solidFill>
                <a:latin typeface="Arial" pitchFamily="34" charset="0"/>
                <a:ea typeface="Arial" pitchFamily="34" charset="-122"/>
                <a:cs typeface="Arial" pitchFamily="34" charset="-120"/>
              </a:rPr>
              <a:t>Doctor Workstation</a:t>
            </a:r>
            <a:endParaRPr lang="en-US" sz="950" dirty="0"/>
          </a:p>
        </p:txBody>
      </p:sp>
      <p:sp>
        <p:nvSpPr>
          <p:cNvPr id="27" name="Shape 25"/>
          <p:cNvSpPr/>
          <p:nvPr/>
        </p:nvSpPr>
        <p:spPr>
          <a:xfrm>
            <a:off x="5266944" y="3154680"/>
            <a:ext cx="1664208" cy="0"/>
          </a:xfrm>
          <a:prstGeom prst="line">
            <a:avLst/>
          </a:prstGeom>
          <a:noFill/>
          <a:ln w="12700">
            <a:solidFill>
              <a:srgbClr val="E2E8F0"/>
            </a:solidFill>
            <a:prstDash val="solid"/>
          </a:ln>
        </p:spPr>
      </p:sp>
      <p:sp>
        <p:nvSpPr>
          <p:cNvPr id="28" name="Text 26"/>
          <p:cNvSpPr/>
          <p:nvPr/>
        </p:nvSpPr>
        <p:spPr>
          <a:xfrm>
            <a:off x="5221224" y="3337560"/>
            <a:ext cx="1755648" cy="256032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Doctor enters diagnosis, builds structured multi-drug prescription, and signs off. Encounter cryptographically locked.</a:t>
            </a:r>
            <a:endParaRPr lang="en-US" sz="1000" dirty="0"/>
          </a:p>
        </p:txBody>
      </p:sp>
      <p:sp>
        <p:nvSpPr>
          <p:cNvPr id="29" name="Shape 27"/>
          <p:cNvSpPr/>
          <p:nvPr/>
        </p:nvSpPr>
        <p:spPr>
          <a:xfrm>
            <a:off x="7260336" y="1691640"/>
            <a:ext cx="2029968" cy="4389120"/>
          </a:xfrm>
          <a:prstGeom prst="roundRect">
            <a:avLst/>
          </a:prstGeom>
          <a:solidFill>
            <a:srgbClr val="FFFFFF"/>
          </a:solidFill>
          <a:ln w="19050">
            <a:solidFill>
              <a:srgbClr val="E2E8F0"/>
            </a:solidFill>
            <a:prstDash val="solid"/>
          </a:ln>
        </p:spPr>
      </p:sp>
      <p:sp>
        <p:nvSpPr>
          <p:cNvPr id="30" name="Shape 28"/>
          <p:cNvSpPr/>
          <p:nvPr/>
        </p:nvSpPr>
        <p:spPr>
          <a:xfrm>
            <a:off x="7397496" y="1874520"/>
            <a:ext cx="1755648" cy="320040"/>
          </a:xfrm>
          <a:prstGeom prst="roundRect">
            <a:avLst/>
          </a:prstGeom>
          <a:solidFill>
            <a:srgbClr val="D97706"/>
          </a:solidFill>
          <a:ln/>
        </p:spPr>
      </p:sp>
      <p:sp>
        <p:nvSpPr>
          <p:cNvPr id="31" name="Text 29"/>
          <p:cNvSpPr/>
          <p:nvPr/>
        </p:nvSpPr>
        <p:spPr>
          <a:xfrm>
            <a:off x="7397496" y="1901952"/>
            <a:ext cx="1755648"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04</a:t>
            </a:r>
            <a:endParaRPr lang="en-US" sz="1000" dirty="0"/>
          </a:p>
        </p:txBody>
      </p:sp>
      <p:sp>
        <p:nvSpPr>
          <p:cNvPr id="32" name="Text 30"/>
          <p:cNvSpPr/>
          <p:nvPr/>
        </p:nvSpPr>
        <p:spPr>
          <a:xfrm>
            <a:off x="7397496" y="2331720"/>
            <a:ext cx="1755648"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Autonomous Synthesis</a:t>
            </a:r>
            <a:endParaRPr lang="en-US" sz="1300" dirty="0"/>
          </a:p>
        </p:txBody>
      </p:sp>
      <p:sp>
        <p:nvSpPr>
          <p:cNvPr id="33" name="Text 31"/>
          <p:cNvSpPr/>
          <p:nvPr/>
        </p:nvSpPr>
        <p:spPr>
          <a:xfrm>
            <a:off x="7397496" y="2834640"/>
            <a:ext cx="1755648" cy="228600"/>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AI Coordinator</a:t>
            </a:r>
            <a:endParaRPr lang="en-US" sz="950" dirty="0"/>
          </a:p>
        </p:txBody>
      </p:sp>
      <p:sp>
        <p:nvSpPr>
          <p:cNvPr id="34" name="Shape 32"/>
          <p:cNvSpPr/>
          <p:nvPr/>
        </p:nvSpPr>
        <p:spPr>
          <a:xfrm>
            <a:off x="7443216" y="3154680"/>
            <a:ext cx="1664208" cy="0"/>
          </a:xfrm>
          <a:prstGeom prst="line">
            <a:avLst/>
          </a:prstGeom>
          <a:noFill/>
          <a:ln w="12700">
            <a:solidFill>
              <a:srgbClr val="E2E8F0"/>
            </a:solidFill>
            <a:prstDash val="solid"/>
          </a:ln>
        </p:spPr>
      </p:sp>
      <p:sp>
        <p:nvSpPr>
          <p:cNvPr id="35" name="Text 33"/>
          <p:cNvSpPr/>
          <p:nvPr/>
        </p:nvSpPr>
        <p:spPr>
          <a:xfrm>
            <a:off x="7397496" y="3337560"/>
            <a:ext cx="1755648" cy="256032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AI parses prescription into 3-slot daily telemetry (M/A/N), condition precautions, and 24/7 bilingual query answering.</a:t>
            </a:r>
            <a:endParaRPr lang="en-US" sz="1000" dirty="0"/>
          </a:p>
        </p:txBody>
      </p:sp>
      <p:sp>
        <p:nvSpPr>
          <p:cNvPr id="36" name="Shape 34"/>
          <p:cNvSpPr/>
          <p:nvPr/>
        </p:nvSpPr>
        <p:spPr>
          <a:xfrm>
            <a:off x="9436608" y="1691640"/>
            <a:ext cx="2029968" cy="4389120"/>
          </a:xfrm>
          <a:prstGeom prst="roundRect">
            <a:avLst/>
          </a:prstGeom>
          <a:solidFill>
            <a:srgbClr val="FFFFFF"/>
          </a:solidFill>
          <a:ln w="19050">
            <a:solidFill>
              <a:srgbClr val="E2E8F0"/>
            </a:solidFill>
            <a:prstDash val="solid"/>
          </a:ln>
        </p:spPr>
      </p:sp>
      <p:sp>
        <p:nvSpPr>
          <p:cNvPr id="37" name="Shape 35"/>
          <p:cNvSpPr/>
          <p:nvPr/>
        </p:nvSpPr>
        <p:spPr>
          <a:xfrm>
            <a:off x="9573768" y="1874520"/>
            <a:ext cx="1755648" cy="320040"/>
          </a:xfrm>
          <a:prstGeom prst="roundRect">
            <a:avLst/>
          </a:prstGeom>
          <a:solidFill>
            <a:srgbClr val="16A34A"/>
          </a:solidFill>
          <a:ln/>
        </p:spPr>
      </p:sp>
      <p:sp>
        <p:nvSpPr>
          <p:cNvPr id="38" name="Text 36"/>
          <p:cNvSpPr/>
          <p:nvPr/>
        </p:nvSpPr>
        <p:spPr>
          <a:xfrm>
            <a:off x="9573768" y="1901952"/>
            <a:ext cx="1755648"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STEP 05</a:t>
            </a:r>
            <a:endParaRPr lang="en-US" sz="1000" dirty="0"/>
          </a:p>
        </p:txBody>
      </p:sp>
      <p:sp>
        <p:nvSpPr>
          <p:cNvPr id="39" name="Text 37"/>
          <p:cNvSpPr/>
          <p:nvPr/>
        </p:nvSpPr>
        <p:spPr>
          <a:xfrm>
            <a:off x="9573768" y="2331720"/>
            <a:ext cx="1755648"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T-1 Follow-up Loop</a:t>
            </a:r>
            <a:endParaRPr lang="en-US" sz="1300" dirty="0"/>
          </a:p>
        </p:txBody>
      </p:sp>
      <p:sp>
        <p:nvSpPr>
          <p:cNvPr id="40" name="Text 38"/>
          <p:cNvSpPr/>
          <p:nvPr/>
        </p:nvSpPr>
        <p:spPr>
          <a:xfrm>
            <a:off x="9573768" y="2834640"/>
            <a:ext cx="1755648" cy="228600"/>
          </a:xfrm>
          <a:prstGeom prst="rect">
            <a:avLst/>
          </a:prstGeom>
          <a:noFill/>
          <a:ln/>
        </p:spPr>
        <p:txBody>
          <a:bodyPr wrap="square" rtlCol="0" anchor="ctr"/>
          <a:lstStyle/>
          <a:p>
            <a:pPr algn="ctr" indent="0" marL="0">
              <a:buNone/>
            </a:pPr>
            <a:r>
              <a:rPr lang="en-US" sz="950" b="1" dirty="0">
                <a:solidFill>
                  <a:srgbClr val="16A34A"/>
                </a:solidFill>
                <a:latin typeface="Arial" pitchFamily="34" charset="0"/>
                <a:ea typeface="Arial" pitchFamily="34" charset="-122"/>
                <a:cs typeface="Arial" pitchFamily="34" charset="-120"/>
              </a:rPr>
              <a:t>Continuous Daemon</a:t>
            </a:r>
            <a:endParaRPr lang="en-US" sz="950" dirty="0"/>
          </a:p>
        </p:txBody>
      </p:sp>
      <p:sp>
        <p:nvSpPr>
          <p:cNvPr id="41" name="Shape 39"/>
          <p:cNvSpPr/>
          <p:nvPr/>
        </p:nvSpPr>
        <p:spPr>
          <a:xfrm>
            <a:off x="9619488" y="3154680"/>
            <a:ext cx="1664208" cy="0"/>
          </a:xfrm>
          <a:prstGeom prst="line">
            <a:avLst/>
          </a:prstGeom>
          <a:noFill/>
          <a:ln w="12700">
            <a:solidFill>
              <a:srgbClr val="E2E8F0"/>
            </a:solidFill>
            <a:prstDash val="solid"/>
          </a:ln>
        </p:spPr>
      </p:sp>
      <p:sp>
        <p:nvSpPr>
          <p:cNvPr id="42" name="Text 40"/>
          <p:cNvSpPr/>
          <p:nvPr/>
        </p:nvSpPr>
        <p:spPr>
          <a:xfrm>
            <a:off x="9573768" y="3337560"/>
            <a:ext cx="1755648" cy="256032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At T-1 before follow-up, AI triggers fasting &amp; prep checklist. Hourly daemon escalates missed visits to care workers.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CLINICIAN EXPERIENCE</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Doctor Workstation: Built for OPD High-Density Speed</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Ergonomically engineered to eliminate clerical fatigue and prioritize clinical attention</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5943600" cy="4389120"/>
          </a:xfrm>
          <a:prstGeom prst="roundRect">
            <a:avLst/>
          </a:prstGeom>
          <a:solidFill>
            <a:srgbClr val="FFFFFF"/>
          </a:solidFill>
          <a:ln w="19050">
            <a:solidFill>
              <a:srgbClr val="E2E8F0"/>
            </a:solidFill>
            <a:prstDash val="solid"/>
          </a:ln>
        </p:spPr>
      </p:sp>
      <p:sp>
        <p:nvSpPr>
          <p:cNvPr id="9" name="Text 7"/>
          <p:cNvSpPr/>
          <p:nvPr/>
        </p:nvSpPr>
        <p:spPr>
          <a:xfrm>
            <a:off x="1005840" y="1920240"/>
            <a:ext cx="5394960" cy="32004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Workstation Capabilities &amp; Ergonomics</a:t>
            </a:r>
            <a:endParaRPr lang="en-US" sz="1500" dirty="0"/>
          </a:p>
        </p:txBody>
      </p:sp>
      <p:sp>
        <p:nvSpPr>
          <p:cNvPr id="10" name="Text 8"/>
          <p:cNvSpPr/>
          <p:nvPr/>
        </p:nvSpPr>
        <p:spPr>
          <a:xfrm>
            <a:off x="1005840" y="2331720"/>
            <a:ext cx="5394960"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Sub-Second Hardware Camera Scanner:</a:t>
            </a:r>
            <a:endParaRPr lang="en-US" sz="1100" dirty="0"/>
          </a:p>
        </p:txBody>
      </p:sp>
      <p:sp>
        <p:nvSpPr>
          <p:cNvPr id="11" name="Text 9"/>
          <p:cNvSpPr/>
          <p:nvPr/>
        </p:nvSpPr>
        <p:spPr>
          <a:xfrm>
            <a:off x="1234440" y="2587752"/>
            <a:ext cx="5166360" cy="438912"/>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Integrated html5-qrcode library decodes opaque patient tokens instantly via standard webcam or mobile camera.</a:t>
            </a:r>
            <a:endParaRPr lang="en-US" sz="1000" dirty="0"/>
          </a:p>
        </p:txBody>
      </p:sp>
      <p:sp>
        <p:nvSpPr>
          <p:cNvPr id="12" name="Text 10"/>
          <p:cNvSpPr/>
          <p:nvPr/>
        </p:nvSpPr>
        <p:spPr>
          <a:xfrm>
            <a:off x="1005840" y="3081528"/>
            <a:ext cx="5394960"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Anonymized Priority Queue Sequencing:</a:t>
            </a:r>
            <a:endParaRPr lang="en-US" sz="1100" dirty="0"/>
          </a:p>
        </p:txBody>
      </p:sp>
      <p:sp>
        <p:nvSpPr>
          <p:cNvPr id="13" name="Text 11"/>
          <p:cNvSpPr/>
          <p:nvPr/>
        </p:nvSpPr>
        <p:spPr>
          <a:xfrm>
            <a:off x="1234440" y="3337560"/>
            <a:ext cx="5166360" cy="438912"/>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Patients sequenced as Patient 1, Patient 2 with visual urgency badges (Routine, Moderate, High) preserving patient confidentiality in open clinic areas.</a:t>
            </a:r>
            <a:endParaRPr lang="en-US" sz="1000" dirty="0"/>
          </a:p>
        </p:txBody>
      </p:sp>
      <p:sp>
        <p:nvSpPr>
          <p:cNvPr id="14" name="Text 12"/>
          <p:cNvSpPr/>
          <p:nvPr/>
        </p:nvSpPr>
        <p:spPr>
          <a:xfrm>
            <a:off x="1005840" y="3831336"/>
            <a:ext cx="5394960"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Dynamic Clinical Briefing Engine:</a:t>
            </a:r>
            <a:endParaRPr lang="en-US" sz="1100" dirty="0"/>
          </a:p>
        </p:txBody>
      </p:sp>
      <p:sp>
        <p:nvSpPr>
          <p:cNvPr id="15" name="Text 13"/>
          <p:cNvSpPr/>
          <p:nvPr/>
        </p:nvSpPr>
        <p:spPr>
          <a:xfrm>
            <a:off x="1234440" y="4087368"/>
            <a:ext cx="5166360" cy="438912"/>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Aggregates previous visit summaries, chief complaints, and historical vitals trends in a single glance.</a:t>
            </a:r>
            <a:endParaRPr lang="en-US" sz="1000" dirty="0"/>
          </a:p>
        </p:txBody>
      </p:sp>
      <p:sp>
        <p:nvSpPr>
          <p:cNvPr id="16" name="Text 14"/>
          <p:cNvSpPr/>
          <p:nvPr/>
        </p:nvSpPr>
        <p:spPr>
          <a:xfrm>
            <a:off x="1005840" y="4581144"/>
            <a:ext cx="5394960"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Multi-Drug Prescription Builder:</a:t>
            </a:r>
            <a:endParaRPr lang="en-US" sz="1100" dirty="0"/>
          </a:p>
        </p:txBody>
      </p:sp>
      <p:sp>
        <p:nvSpPr>
          <p:cNvPr id="17" name="Text 15"/>
          <p:cNvSpPr/>
          <p:nvPr/>
        </p:nvSpPr>
        <p:spPr>
          <a:xfrm>
            <a:off x="1234440" y="4837176"/>
            <a:ext cx="5166360" cy="438912"/>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Rapid drug selector with standard frequency chips (1-0-1, 1-0-0), meal-timing instructions, and automatic course duration calculation.</a:t>
            </a:r>
            <a:endParaRPr lang="en-US" sz="1000" dirty="0"/>
          </a:p>
        </p:txBody>
      </p:sp>
      <p:sp>
        <p:nvSpPr>
          <p:cNvPr id="18" name="Text 16"/>
          <p:cNvSpPr/>
          <p:nvPr/>
        </p:nvSpPr>
        <p:spPr>
          <a:xfrm>
            <a:off x="1005840" y="5330952"/>
            <a:ext cx="5394960"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Cryptographic Sign-Off &amp; Record Lock:</a:t>
            </a:r>
            <a:endParaRPr lang="en-US" sz="1100" dirty="0"/>
          </a:p>
        </p:txBody>
      </p:sp>
      <p:sp>
        <p:nvSpPr>
          <p:cNvPr id="19" name="Text 17"/>
          <p:cNvSpPr/>
          <p:nvPr/>
        </p:nvSpPr>
        <p:spPr>
          <a:xfrm>
            <a:off x="1234440" y="5586984"/>
            <a:ext cx="5166360" cy="438912"/>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Finalized consultations are locked with doctor credentials preventing post-hoc alteration and providing an audit trail.</a:t>
            </a:r>
            <a:endParaRPr lang="en-US" sz="1000" dirty="0"/>
          </a:p>
        </p:txBody>
      </p:sp>
      <p:sp>
        <p:nvSpPr>
          <p:cNvPr id="20" name="Shape 18"/>
          <p:cNvSpPr/>
          <p:nvPr/>
        </p:nvSpPr>
        <p:spPr>
          <a:xfrm>
            <a:off x="6949440" y="1691640"/>
            <a:ext cx="4507992" cy="4389120"/>
          </a:xfrm>
          <a:prstGeom prst="roundRect">
            <a:avLst/>
          </a:prstGeom>
          <a:solidFill>
            <a:srgbClr val="EFF6FF"/>
          </a:solidFill>
          <a:ln w="19050">
            <a:solidFill>
              <a:srgbClr val="BFDBFE"/>
            </a:solidFill>
            <a:prstDash val="solid"/>
          </a:ln>
        </p:spPr>
      </p:sp>
      <p:sp>
        <p:nvSpPr>
          <p:cNvPr id="21" name="Text 19"/>
          <p:cNvSpPr/>
          <p:nvPr/>
        </p:nvSpPr>
        <p:spPr>
          <a:xfrm>
            <a:off x="7223760" y="1920240"/>
            <a:ext cx="3959352" cy="320040"/>
          </a:xfrm>
          <a:prstGeom prst="rect">
            <a:avLst/>
          </a:prstGeom>
          <a:noFill/>
          <a:ln/>
        </p:spPr>
        <p:txBody>
          <a:bodyPr wrap="square" rtlCol="0" anchor="ctr"/>
          <a:lstStyle/>
          <a:p>
            <a:pPr indent="0" marL="0">
              <a:buNone/>
            </a:pPr>
            <a:r>
              <a:rPr lang="en-US" sz="1500" b="1" dirty="0">
                <a:solidFill>
                  <a:srgbClr val="1D4ED8"/>
                </a:solidFill>
                <a:latin typeface="Arial" pitchFamily="34" charset="0"/>
                <a:ea typeface="Arial" pitchFamily="34" charset="-122"/>
                <a:cs typeface="Arial" pitchFamily="34" charset="-120"/>
              </a:rPr>
              <a:t>Measurable Clinical Efficiency Gains</a:t>
            </a:r>
            <a:endParaRPr lang="en-US" sz="1500" dirty="0"/>
          </a:p>
        </p:txBody>
      </p:sp>
      <p:sp>
        <p:nvSpPr>
          <p:cNvPr id="22" name="Text 20"/>
          <p:cNvSpPr/>
          <p:nvPr/>
        </p:nvSpPr>
        <p:spPr>
          <a:xfrm>
            <a:off x="7223760" y="2377440"/>
            <a:ext cx="3959352" cy="347472"/>
          </a:xfrm>
          <a:prstGeom prst="rect">
            <a:avLst/>
          </a:prstGeom>
          <a:noFill/>
          <a:ln/>
        </p:spPr>
        <p:txBody>
          <a:bodyPr wrap="square" rtlCol="0" anchor="ctr"/>
          <a:lstStyle/>
          <a:p>
            <a:pPr indent="0" marL="0">
              <a:buNone/>
            </a:pPr>
            <a:r>
              <a:rPr lang="en-US" sz="1800" b="1" dirty="0">
                <a:solidFill>
                  <a:srgbClr val="2563EB"/>
                </a:solidFill>
                <a:latin typeface="Arial" pitchFamily="34" charset="0"/>
                <a:ea typeface="Arial" pitchFamily="34" charset="-122"/>
                <a:cs typeface="Arial" pitchFamily="34" charset="-120"/>
              </a:rPr>
              <a:t>&lt; 45 Sec</a:t>
            </a:r>
            <a:endParaRPr lang="en-US" sz="1800" dirty="0"/>
          </a:p>
        </p:txBody>
      </p:sp>
      <p:sp>
        <p:nvSpPr>
          <p:cNvPr id="23" name="Text 21"/>
          <p:cNvSpPr/>
          <p:nvPr/>
        </p:nvSpPr>
        <p:spPr>
          <a:xfrm>
            <a:off x="7223760" y="2697480"/>
            <a:ext cx="3959352"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Average Consultation Charting Time</a:t>
            </a:r>
            <a:endParaRPr lang="en-US" sz="1100" dirty="0"/>
          </a:p>
        </p:txBody>
      </p:sp>
      <p:sp>
        <p:nvSpPr>
          <p:cNvPr id="24" name="Text 22"/>
          <p:cNvSpPr/>
          <p:nvPr/>
        </p:nvSpPr>
        <p:spPr>
          <a:xfrm>
            <a:off x="7223760" y="2907792"/>
            <a:ext cx="3959352" cy="22860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From patient scan to final prescription sign-off</a:t>
            </a:r>
            <a:endParaRPr lang="en-US" sz="950" dirty="0"/>
          </a:p>
        </p:txBody>
      </p:sp>
      <p:sp>
        <p:nvSpPr>
          <p:cNvPr id="25" name="Text 23"/>
          <p:cNvSpPr/>
          <p:nvPr/>
        </p:nvSpPr>
        <p:spPr>
          <a:xfrm>
            <a:off x="7223760" y="3273552"/>
            <a:ext cx="3959352" cy="347472"/>
          </a:xfrm>
          <a:prstGeom prst="rect">
            <a:avLst/>
          </a:prstGeom>
          <a:noFill/>
          <a:ln/>
        </p:spPr>
        <p:txBody>
          <a:bodyPr wrap="square" rtlCol="0" anchor="ctr"/>
          <a:lstStyle/>
          <a:p>
            <a:pPr indent="0" marL="0">
              <a:buNone/>
            </a:pPr>
            <a:r>
              <a:rPr lang="en-US" sz="1800" b="1" dirty="0">
                <a:solidFill>
                  <a:srgbClr val="2563EB"/>
                </a:solidFill>
                <a:latin typeface="Arial" pitchFamily="34" charset="0"/>
                <a:ea typeface="Arial" pitchFamily="34" charset="-122"/>
                <a:cs typeface="Arial" pitchFamily="34" charset="-120"/>
              </a:rPr>
              <a:t>0 Cleartext PII</a:t>
            </a:r>
            <a:endParaRPr lang="en-US" sz="1800" dirty="0"/>
          </a:p>
        </p:txBody>
      </p:sp>
      <p:sp>
        <p:nvSpPr>
          <p:cNvPr id="26" name="Text 24"/>
          <p:cNvSpPr/>
          <p:nvPr/>
        </p:nvSpPr>
        <p:spPr>
          <a:xfrm>
            <a:off x="7223760" y="3593592"/>
            <a:ext cx="3959352"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Privacy by Design</a:t>
            </a:r>
            <a:endParaRPr lang="en-US" sz="1100" dirty="0"/>
          </a:p>
        </p:txBody>
      </p:sp>
      <p:sp>
        <p:nvSpPr>
          <p:cNvPr id="27" name="Text 25"/>
          <p:cNvSpPr/>
          <p:nvPr/>
        </p:nvSpPr>
        <p:spPr>
          <a:xfrm>
            <a:off x="7223760" y="3803904"/>
            <a:ext cx="3959352" cy="22860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Tokens use hashed IDs; no medical records exposed on slips</a:t>
            </a:r>
            <a:endParaRPr lang="en-US" sz="950" dirty="0"/>
          </a:p>
        </p:txBody>
      </p:sp>
      <p:sp>
        <p:nvSpPr>
          <p:cNvPr id="28" name="Text 26"/>
          <p:cNvSpPr/>
          <p:nvPr/>
        </p:nvSpPr>
        <p:spPr>
          <a:xfrm>
            <a:off x="7223760" y="4169664"/>
            <a:ext cx="3959352" cy="347472"/>
          </a:xfrm>
          <a:prstGeom prst="rect">
            <a:avLst/>
          </a:prstGeom>
          <a:noFill/>
          <a:ln/>
        </p:spPr>
        <p:txBody>
          <a:bodyPr wrap="square" rtlCol="0" anchor="ctr"/>
          <a:lstStyle/>
          <a:p>
            <a:pPr indent="0" marL="0">
              <a:buNone/>
            </a:pPr>
            <a:r>
              <a:rPr lang="en-US" sz="1800" b="1" dirty="0">
                <a:solidFill>
                  <a:srgbClr val="2563EB"/>
                </a:solidFill>
                <a:latin typeface="Arial" pitchFamily="34" charset="0"/>
                <a:ea typeface="Arial" pitchFamily="34" charset="-122"/>
                <a:cs typeface="Arial" pitchFamily="34" charset="-120"/>
              </a:rPr>
              <a:t>100% Digital Sync</a:t>
            </a:r>
            <a:endParaRPr lang="en-US" sz="1800" dirty="0"/>
          </a:p>
        </p:txBody>
      </p:sp>
      <p:sp>
        <p:nvSpPr>
          <p:cNvPr id="29" name="Text 27"/>
          <p:cNvSpPr/>
          <p:nvPr/>
        </p:nvSpPr>
        <p:spPr>
          <a:xfrm>
            <a:off x="7223760" y="4489704"/>
            <a:ext cx="3959352"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Instant Patient Handoff</a:t>
            </a:r>
            <a:endParaRPr lang="en-US" sz="1100" dirty="0"/>
          </a:p>
        </p:txBody>
      </p:sp>
      <p:sp>
        <p:nvSpPr>
          <p:cNvPr id="30" name="Text 28"/>
          <p:cNvSpPr/>
          <p:nvPr/>
        </p:nvSpPr>
        <p:spPr>
          <a:xfrm>
            <a:off x="7223760" y="4700016"/>
            <a:ext cx="3959352" cy="22860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Prescription instantly populates Patient AI Coordinator</a:t>
            </a:r>
            <a:endParaRPr lang="en-US" sz="950" dirty="0"/>
          </a:p>
        </p:txBody>
      </p:sp>
      <p:sp>
        <p:nvSpPr>
          <p:cNvPr id="31" name="Text 29"/>
          <p:cNvSpPr/>
          <p:nvPr/>
        </p:nvSpPr>
        <p:spPr>
          <a:xfrm>
            <a:off x="7223760" y="5065776"/>
            <a:ext cx="3959352" cy="347472"/>
          </a:xfrm>
          <a:prstGeom prst="rect">
            <a:avLst/>
          </a:prstGeom>
          <a:noFill/>
          <a:ln/>
        </p:spPr>
        <p:txBody>
          <a:bodyPr wrap="square" rtlCol="0" anchor="ctr"/>
          <a:lstStyle/>
          <a:p>
            <a:pPr indent="0" marL="0">
              <a:buNone/>
            </a:pPr>
            <a:r>
              <a:rPr lang="en-US" sz="1800" b="1" dirty="0">
                <a:solidFill>
                  <a:srgbClr val="2563EB"/>
                </a:solidFill>
                <a:latin typeface="Arial" pitchFamily="34" charset="0"/>
                <a:ea typeface="Arial" pitchFamily="34" charset="-122"/>
                <a:cs typeface="Arial" pitchFamily="34" charset="-120"/>
              </a:rPr>
              <a:t>Zero Retyping</a:t>
            </a:r>
            <a:endParaRPr lang="en-US" sz="1800" dirty="0"/>
          </a:p>
        </p:txBody>
      </p:sp>
      <p:sp>
        <p:nvSpPr>
          <p:cNvPr id="32" name="Text 30"/>
          <p:cNvSpPr/>
          <p:nvPr/>
        </p:nvSpPr>
        <p:spPr>
          <a:xfrm>
            <a:off x="7223760" y="5385816"/>
            <a:ext cx="3959352" cy="22860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Eliminates Manual Data Re-Entry</a:t>
            </a:r>
            <a:endParaRPr lang="en-US" sz="1100" dirty="0"/>
          </a:p>
        </p:txBody>
      </p:sp>
      <p:sp>
        <p:nvSpPr>
          <p:cNvPr id="33" name="Text 31"/>
          <p:cNvSpPr/>
          <p:nvPr/>
        </p:nvSpPr>
        <p:spPr>
          <a:xfrm>
            <a:off x="7223760" y="5596128"/>
            <a:ext cx="3959352" cy="228600"/>
          </a:xfrm>
          <a:prstGeom prst="rect">
            <a:avLst/>
          </a:prstGeom>
          <a:noFill/>
          <a:ln/>
        </p:spPr>
        <p:txBody>
          <a:bodyPr wrap="square" rtlCol="0" anchor="ctr"/>
          <a:lstStyle/>
          <a:p>
            <a:pPr indent="0" marL="0">
              <a:buNone/>
            </a:pPr>
            <a:r>
              <a:rPr lang="en-US" sz="950" dirty="0">
                <a:solidFill>
                  <a:srgbClr val="475569"/>
                </a:solidFill>
                <a:latin typeface="Arial" pitchFamily="34" charset="0"/>
                <a:ea typeface="Arial" pitchFamily="34" charset="-122"/>
                <a:cs typeface="Arial" pitchFamily="34" charset="-120"/>
              </a:rPr>
              <a:t>Vitals &amp; notes populate directly from hardware &amp; voice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PATIENT EXPERIENCE</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Patient Portal: Inclusive, Multilingual &amp; Privacy-First</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Engineered for universal accessibility across diverse demographic literacy levels</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3410712" cy="4389120"/>
          </a:xfrm>
          <a:prstGeom prst="roundRect">
            <a:avLst/>
          </a:prstGeom>
          <a:solidFill>
            <a:srgbClr val="F0FDFA"/>
          </a:solidFill>
          <a:ln w="19050">
            <a:solidFill>
              <a:srgbClr val="E2E8F0"/>
            </a:solidFill>
            <a:prstDash val="solid"/>
          </a:ln>
        </p:spPr>
      </p:sp>
      <p:sp>
        <p:nvSpPr>
          <p:cNvPr id="9" name="Text 7"/>
          <p:cNvSpPr/>
          <p:nvPr/>
        </p:nvSpPr>
        <p:spPr>
          <a:xfrm>
            <a:off x="1005840" y="1965960"/>
            <a:ext cx="2862072" cy="457200"/>
          </a:xfrm>
          <a:prstGeom prst="rect">
            <a:avLst/>
          </a:prstGeom>
          <a:noFill/>
          <a:ln/>
        </p:spPr>
        <p:txBody>
          <a:bodyPr wrap="square" rtlCol="0" anchor="ctr"/>
          <a:lstStyle/>
          <a:p>
            <a:pPr indent="0" marL="0">
              <a:buNone/>
            </a:pPr>
            <a:r>
              <a:rPr lang="en-US" sz="1450" b="1" dirty="0">
                <a:solidFill>
                  <a:srgbClr val="0D9488"/>
                </a:solidFill>
                <a:latin typeface="Arial" pitchFamily="34" charset="0"/>
                <a:ea typeface="Arial" pitchFamily="34" charset="-122"/>
                <a:cs typeface="Arial" pitchFamily="34" charset="-120"/>
              </a:rPr>
              <a:t>Voice-Assisted Vernacular Intake</a:t>
            </a:r>
            <a:endParaRPr lang="en-US" sz="1450" dirty="0"/>
          </a:p>
        </p:txBody>
      </p:sp>
      <p:sp>
        <p:nvSpPr>
          <p:cNvPr id="10" name="Text 8"/>
          <p:cNvSpPr/>
          <p:nvPr/>
        </p:nvSpPr>
        <p:spPr>
          <a:xfrm>
            <a:off x="1005840" y="2423160"/>
            <a:ext cx="2862072" cy="274320"/>
          </a:xfrm>
          <a:prstGeom prst="rect">
            <a:avLst/>
          </a:prstGeom>
          <a:noFill/>
          <a:ln/>
        </p:spPr>
        <p:txBody>
          <a:bodyPr wrap="square" rtlCol="0" anchor="ctr"/>
          <a:lstStyle/>
          <a:p>
            <a:pPr indent="0" marL="0">
              <a:buNone/>
            </a:pPr>
            <a:r>
              <a:rPr lang="en-US" sz="1000" b="1" dirty="0">
                <a:solidFill>
                  <a:srgbClr val="475569"/>
                </a:solidFill>
                <a:latin typeface="Arial" pitchFamily="34" charset="0"/>
                <a:ea typeface="Arial" pitchFamily="34" charset="-122"/>
                <a:cs typeface="Arial" pitchFamily="34" charset="-120"/>
              </a:rPr>
              <a:t>Web Speech API in Hindi &amp; English</a:t>
            </a:r>
            <a:endParaRPr lang="en-US" sz="1000" dirty="0"/>
          </a:p>
        </p:txBody>
      </p:sp>
      <p:sp>
        <p:nvSpPr>
          <p:cNvPr id="11" name="Shape 9"/>
          <p:cNvSpPr/>
          <p:nvPr/>
        </p:nvSpPr>
        <p:spPr>
          <a:xfrm>
            <a:off x="1005840" y="2788920"/>
            <a:ext cx="2862072" cy="0"/>
          </a:xfrm>
          <a:prstGeom prst="line">
            <a:avLst/>
          </a:prstGeom>
          <a:noFill/>
          <a:ln w="12700">
            <a:solidFill>
              <a:srgbClr val="E2E8F0"/>
            </a:solidFill>
            <a:prstDash val="solid"/>
          </a:ln>
        </p:spPr>
      </p:sp>
      <p:sp>
        <p:nvSpPr>
          <p:cNvPr id="12" name="Shape 10"/>
          <p:cNvSpPr/>
          <p:nvPr/>
        </p:nvSpPr>
        <p:spPr>
          <a:xfrm>
            <a:off x="1005840" y="3063240"/>
            <a:ext cx="91440" cy="91440"/>
          </a:xfrm>
          <a:prstGeom prst="ellipse">
            <a:avLst/>
          </a:prstGeom>
          <a:solidFill>
            <a:srgbClr val="0D9488"/>
          </a:solidFill>
          <a:ln/>
        </p:spPr>
      </p:sp>
      <p:sp>
        <p:nvSpPr>
          <p:cNvPr id="13" name="Text 11"/>
          <p:cNvSpPr/>
          <p:nvPr/>
        </p:nvSpPr>
        <p:spPr>
          <a:xfrm>
            <a:off x="1188720" y="297180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Patients can speak symptoms naturally in Hindi or English.</a:t>
            </a:r>
            <a:endParaRPr lang="en-US" sz="1050" dirty="0"/>
          </a:p>
        </p:txBody>
      </p:sp>
      <p:sp>
        <p:nvSpPr>
          <p:cNvPr id="14" name="Shape 12"/>
          <p:cNvSpPr/>
          <p:nvPr/>
        </p:nvSpPr>
        <p:spPr>
          <a:xfrm>
            <a:off x="1005840" y="3931920"/>
            <a:ext cx="91440" cy="91440"/>
          </a:xfrm>
          <a:prstGeom prst="ellipse">
            <a:avLst/>
          </a:prstGeom>
          <a:solidFill>
            <a:srgbClr val="0D9488"/>
          </a:solidFill>
          <a:ln/>
        </p:spPr>
      </p:sp>
      <p:sp>
        <p:nvSpPr>
          <p:cNvPr id="15" name="Text 13"/>
          <p:cNvSpPr/>
          <p:nvPr/>
        </p:nvSpPr>
        <p:spPr>
          <a:xfrm>
            <a:off x="1188720" y="384048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Built-in speech recognition transcribes and structures chief complaints.</a:t>
            </a:r>
            <a:endParaRPr lang="en-US" sz="1050" dirty="0"/>
          </a:p>
        </p:txBody>
      </p:sp>
      <p:sp>
        <p:nvSpPr>
          <p:cNvPr id="16" name="Shape 14"/>
          <p:cNvSpPr/>
          <p:nvPr/>
        </p:nvSpPr>
        <p:spPr>
          <a:xfrm>
            <a:off x="1005840" y="4800600"/>
            <a:ext cx="91440" cy="91440"/>
          </a:xfrm>
          <a:prstGeom prst="ellipse">
            <a:avLst/>
          </a:prstGeom>
          <a:solidFill>
            <a:srgbClr val="0D9488"/>
          </a:solidFill>
          <a:ln/>
        </p:spPr>
      </p:sp>
      <p:sp>
        <p:nvSpPr>
          <p:cNvPr id="17" name="Text 15"/>
          <p:cNvSpPr/>
          <p:nvPr/>
        </p:nvSpPr>
        <p:spPr>
          <a:xfrm>
            <a:off x="1188720" y="470916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Ideal for elderly patients or individuals with low digital literacy.</a:t>
            </a:r>
            <a:endParaRPr lang="en-US" sz="1050" dirty="0"/>
          </a:p>
        </p:txBody>
      </p:sp>
      <p:sp>
        <p:nvSpPr>
          <p:cNvPr id="18" name="Shape 16"/>
          <p:cNvSpPr/>
          <p:nvPr/>
        </p:nvSpPr>
        <p:spPr>
          <a:xfrm>
            <a:off x="4389120" y="1691640"/>
            <a:ext cx="3410712" cy="4389120"/>
          </a:xfrm>
          <a:prstGeom prst="roundRect">
            <a:avLst/>
          </a:prstGeom>
          <a:solidFill>
            <a:srgbClr val="EFF6FF"/>
          </a:solidFill>
          <a:ln w="19050">
            <a:solidFill>
              <a:srgbClr val="E2E8F0"/>
            </a:solidFill>
            <a:prstDash val="solid"/>
          </a:ln>
        </p:spPr>
      </p:sp>
      <p:sp>
        <p:nvSpPr>
          <p:cNvPr id="19" name="Text 17"/>
          <p:cNvSpPr/>
          <p:nvPr/>
        </p:nvSpPr>
        <p:spPr>
          <a:xfrm>
            <a:off x="4663440" y="1965960"/>
            <a:ext cx="2862072" cy="457200"/>
          </a:xfrm>
          <a:prstGeom prst="rect">
            <a:avLst/>
          </a:prstGeom>
          <a:noFill/>
          <a:ln/>
        </p:spPr>
        <p:txBody>
          <a:bodyPr wrap="square" rtlCol="0" anchor="ctr"/>
          <a:lstStyle/>
          <a:p>
            <a:pPr indent="0" marL="0">
              <a:buNone/>
            </a:pPr>
            <a:r>
              <a:rPr lang="en-US" sz="1450" b="1" dirty="0">
                <a:solidFill>
                  <a:srgbClr val="2563EB"/>
                </a:solidFill>
                <a:latin typeface="Arial" pitchFamily="34" charset="0"/>
                <a:ea typeface="Arial" pitchFamily="34" charset="-122"/>
                <a:cs typeface="Arial" pitchFamily="34" charset="-120"/>
              </a:rPr>
              <a:t>Cryptographic Consent QR Pass</a:t>
            </a:r>
            <a:endParaRPr lang="en-US" sz="1450" dirty="0"/>
          </a:p>
        </p:txBody>
      </p:sp>
      <p:sp>
        <p:nvSpPr>
          <p:cNvPr id="20" name="Text 18"/>
          <p:cNvSpPr/>
          <p:nvPr/>
        </p:nvSpPr>
        <p:spPr>
          <a:xfrm>
            <a:off x="4663440" y="2423160"/>
            <a:ext cx="2862072" cy="274320"/>
          </a:xfrm>
          <a:prstGeom prst="rect">
            <a:avLst/>
          </a:prstGeom>
          <a:noFill/>
          <a:ln/>
        </p:spPr>
        <p:txBody>
          <a:bodyPr wrap="square" rtlCol="0" anchor="ctr"/>
          <a:lstStyle/>
          <a:p>
            <a:pPr indent="0" marL="0">
              <a:buNone/>
            </a:pPr>
            <a:r>
              <a:rPr lang="en-US" sz="1000" b="1" dirty="0">
                <a:solidFill>
                  <a:srgbClr val="475569"/>
                </a:solidFill>
                <a:latin typeface="Arial" pitchFamily="34" charset="0"/>
                <a:ea typeface="Arial" pitchFamily="34" charset="-122"/>
                <a:cs typeface="Arial" pitchFamily="34" charset="-120"/>
              </a:rPr>
              <a:t>Privacy-Preserving Contactless Check-In</a:t>
            </a:r>
            <a:endParaRPr lang="en-US" sz="1000" dirty="0"/>
          </a:p>
        </p:txBody>
      </p:sp>
      <p:sp>
        <p:nvSpPr>
          <p:cNvPr id="21" name="Shape 19"/>
          <p:cNvSpPr/>
          <p:nvPr/>
        </p:nvSpPr>
        <p:spPr>
          <a:xfrm>
            <a:off x="4663440" y="2788920"/>
            <a:ext cx="2862072" cy="0"/>
          </a:xfrm>
          <a:prstGeom prst="line">
            <a:avLst/>
          </a:prstGeom>
          <a:noFill/>
          <a:ln w="12700">
            <a:solidFill>
              <a:srgbClr val="E2E8F0"/>
            </a:solidFill>
            <a:prstDash val="solid"/>
          </a:ln>
        </p:spPr>
      </p:sp>
      <p:sp>
        <p:nvSpPr>
          <p:cNvPr id="22" name="Shape 20"/>
          <p:cNvSpPr/>
          <p:nvPr/>
        </p:nvSpPr>
        <p:spPr>
          <a:xfrm>
            <a:off x="4663440" y="3063240"/>
            <a:ext cx="91440" cy="91440"/>
          </a:xfrm>
          <a:prstGeom prst="ellipse">
            <a:avLst/>
          </a:prstGeom>
          <a:solidFill>
            <a:srgbClr val="2563EB"/>
          </a:solidFill>
          <a:ln/>
        </p:spPr>
      </p:sp>
      <p:sp>
        <p:nvSpPr>
          <p:cNvPr id="23" name="Text 21"/>
          <p:cNvSpPr/>
          <p:nvPr/>
        </p:nvSpPr>
        <p:spPr>
          <a:xfrm>
            <a:off x="4846320" y="297180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Generates high-contrast QR tokens containing encrypted digest references.</a:t>
            </a:r>
            <a:endParaRPr lang="en-US" sz="1050" dirty="0"/>
          </a:p>
        </p:txBody>
      </p:sp>
      <p:sp>
        <p:nvSpPr>
          <p:cNvPr id="24" name="Shape 22"/>
          <p:cNvSpPr/>
          <p:nvPr/>
        </p:nvSpPr>
        <p:spPr>
          <a:xfrm>
            <a:off x="4663440" y="3931920"/>
            <a:ext cx="91440" cy="91440"/>
          </a:xfrm>
          <a:prstGeom prst="ellipse">
            <a:avLst/>
          </a:prstGeom>
          <a:solidFill>
            <a:srgbClr val="2563EB"/>
          </a:solidFill>
          <a:ln/>
        </p:spPr>
      </p:sp>
      <p:sp>
        <p:nvSpPr>
          <p:cNvPr id="25" name="Text 23"/>
          <p:cNvSpPr/>
          <p:nvPr/>
        </p:nvSpPr>
        <p:spPr>
          <a:xfrm>
            <a:off x="4846320" y="384048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No medical conditions or personal phone numbers visible in cleartext.</a:t>
            </a:r>
            <a:endParaRPr lang="en-US" sz="1050" dirty="0"/>
          </a:p>
        </p:txBody>
      </p:sp>
      <p:sp>
        <p:nvSpPr>
          <p:cNvPr id="26" name="Shape 24"/>
          <p:cNvSpPr/>
          <p:nvPr/>
        </p:nvSpPr>
        <p:spPr>
          <a:xfrm>
            <a:off x="4663440" y="4800600"/>
            <a:ext cx="91440" cy="91440"/>
          </a:xfrm>
          <a:prstGeom prst="ellipse">
            <a:avLst/>
          </a:prstGeom>
          <a:solidFill>
            <a:srgbClr val="2563EB"/>
          </a:solidFill>
          <a:ln/>
        </p:spPr>
      </p:sp>
      <p:sp>
        <p:nvSpPr>
          <p:cNvPr id="27" name="Text 25"/>
          <p:cNvSpPr/>
          <p:nvPr/>
        </p:nvSpPr>
        <p:spPr>
          <a:xfrm>
            <a:off x="4846320" y="470916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Can be displayed on mobile screen or printed as a reusable clinical pass.</a:t>
            </a:r>
            <a:endParaRPr lang="en-US" sz="1050" dirty="0"/>
          </a:p>
        </p:txBody>
      </p:sp>
      <p:sp>
        <p:nvSpPr>
          <p:cNvPr id="28" name="Shape 26"/>
          <p:cNvSpPr/>
          <p:nvPr/>
        </p:nvSpPr>
        <p:spPr>
          <a:xfrm>
            <a:off x="8046720" y="1691640"/>
            <a:ext cx="3410712" cy="4389120"/>
          </a:xfrm>
          <a:prstGeom prst="roundRect">
            <a:avLst/>
          </a:prstGeom>
          <a:solidFill>
            <a:srgbClr val="EEF2FF"/>
          </a:solidFill>
          <a:ln w="19050">
            <a:solidFill>
              <a:srgbClr val="E2E8F0"/>
            </a:solidFill>
            <a:prstDash val="solid"/>
          </a:ln>
        </p:spPr>
      </p:sp>
      <p:sp>
        <p:nvSpPr>
          <p:cNvPr id="29" name="Text 27"/>
          <p:cNvSpPr/>
          <p:nvPr/>
        </p:nvSpPr>
        <p:spPr>
          <a:xfrm>
            <a:off x="8321040" y="1965960"/>
            <a:ext cx="2862072" cy="457200"/>
          </a:xfrm>
          <a:prstGeom prst="rect">
            <a:avLst/>
          </a:prstGeom>
          <a:noFill/>
          <a:ln/>
        </p:spPr>
        <p:txBody>
          <a:bodyPr wrap="square" rtlCol="0" anchor="ctr"/>
          <a:lstStyle/>
          <a:p>
            <a:pPr indent="0" marL="0">
              <a:buNone/>
            </a:pPr>
            <a:r>
              <a:rPr lang="en-US" sz="1450" b="1" dirty="0">
                <a:solidFill>
                  <a:srgbClr val="4F46E5"/>
                </a:solidFill>
                <a:latin typeface="Arial" pitchFamily="34" charset="0"/>
                <a:ea typeface="Arial" pitchFamily="34" charset="-122"/>
                <a:cs typeface="Arial" pitchFamily="34" charset="-120"/>
              </a:rPr>
              <a:t>Transparent Digital Prescriptions</a:t>
            </a:r>
            <a:endParaRPr lang="en-US" sz="1450" dirty="0"/>
          </a:p>
        </p:txBody>
      </p:sp>
      <p:sp>
        <p:nvSpPr>
          <p:cNvPr id="30" name="Text 28"/>
          <p:cNvSpPr/>
          <p:nvPr/>
        </p:nvSpPr>
        <p:spPr>
          <a:xfrm>
            <a:off x="8321040" y="2423160"/>
            <a:ext cx="2862072" cy="274320"/>
          </a:xfrm>
          <a:prstGeom prst="rect">
            <a:avLst/>
          </a:prstGeom>
          <a:noFill/>
          <a:ln/>
        </p:spPr>
        <p:txBody>
          <a:bodyPr wrap="square" rtlCol="0" anchor="ctr"/>
          <a:lstStyle/>
          <a:p>
            <a:pPr indent="0" marL="0">
              <a:buNone/>
            </a:pPr>
            <a:r>
              <a:rPr lang="en-US" sz="1000" b="1" dirty="0">
                <a:solidFill>
                  <a:srgbClr val="475569"/>
                </a:solidFill>
                <a:latin typeface="Arial" pitchFamily="34" charset="0"/>
                <a:ea typeface="Arial" pitchFamily="34" charset="-122"/>
                <a:cs typeface="Arial" pitchFamily="34" charset="-120"/>
              </a:rPr>
              <a:t>Real-Time Visit Records &amp; History</a:t>
            </a:r>
            <a:endParaRPr lang="en-US" sz="1000" dirty="0"/>
          </a:p>
        </p:txBody>
      </p:sp>
      <p:sp>
        <p:nvSpPr>
          <p:cNvPr id="31" name="Shape 29"/>
          <p:cNvSpPr/>
          <p:nvPr/>
        </p:nvSpPr>
        <p:spPr>
          <a:xfrm>
            <a:off x="8321040" y="2788920"/>
            <a:ext cx="2862072" cy="0"/>
          </a:xfrm>
          <a:prstGeom prst="line">
            <a:avLst/>
          </a:prstGeom>
          <a:noFill/>
          <a:ln w="12700">
            <a:solidFill>
              <a:srgbClr val="E2E8F0"/>
            </a:solidFill>
            <a:prstDash val="solid"/>
          </a:ln>
        </p:spPr>
      </p:sp>
      <p:sp>
        <p:nvSpPr>
          <p:cNvPr id="32" name="Shape 30"/>
          <p:cNvSpPr/>
          <p:nvPr/>
        </p:nvSpPr>
        <p:spPr>
          <a:xfrm>
            <a:off x="8321040" y="3063240"/>
            <a:ext cx="91440" cy="91440"/>
          </a:xfrm>
          <a:prstGeom prst="ellipse">
            <a:avLst/>
          </a:prstGeom>
          <a:solidFill>
            <a:srgbClr val="4F46E5"/>
          </a:solidFill>
          <a:ln/>
        </p:spPr>
      </p:sp>
      <p:sp>
        <p:nvSpPr>
          <p:cNvPr id="33" name="Text 31"/>
          <p:cNvSpPr/>
          <p:nvPr/>
        </p:nvSpPr>
        <p:spPr>
          <a:xfrm>
            <a:off x="8503920" y="297180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Instant access to clinician sign-off notes, diagnosis, and vitals readings.</a:t>
            </a:r>
            <a:endParaRPr lang="en-US" sz="1050" dirty="0"/>
          </a:p>
        </p:txBody>
      </p:sp>
      <p:sp>
        <p:nvSpPr>
          <p:cNvPr id="34" name="Shape 32"/>
          <p:cNvSpPr/>
          <p:nvPr/>
        </p:nvSpPr>
        <p:spPr>
          <a:xfrm>
            <a:off x="8321040" y="3931920"/>
            <a:ext cx="91440" cy="91440"/>
          </a:xfrm>
          <a:prstGeom prst="ellipse">
            <a:avLst/>
          </a:prstGeom>
          <a:solidFill>
            <a:srgbClr val="4F46E5"/>
          </a:solidFill>
          <a:ln/>
        </p:spPr>
      </p:sp>
      <p:sp>
        <p:nvSpPr>
          <p:cNvPr id="35" name="Text 33"/>
          <p:cNvSpPr/>
          <p:nvPr/>
        </p:nvSpPr>
        <p:spPr>
          <a:xfrm>
            <a:off x="8503920" y="384048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Structured medication dosage cards with clear meal timing badges.</a:t>
            </a:r>
            <a:endParaRPr lang="en-US" sz="1050" dirty="0"/>
          </a:p>
        </p:txBody>
      </p:sp>
      <p:sp>
        <p:nvSpPr>
          <p:cNvPr id="36" name="Shape 34"/>
          <p:cNvSpPr/>
          <p:nvPr/>
        </p:nvSpPr>
        <p:spPr>
          <a:xfrm>
            <a:off x="8321040" y="4800600"/>
            <a:ext cx="91440" cy="91440"/>
          </a:xfrm>
          <a:prstGeom prst="ellipse">
            <a:avLst/>
          </a:prstGeom>
          <a:solidFill>
            <a:srgbClr val="4F46E5"/>
          </a:solidFill>
          <a:ln/>
        </p:spPr>
      </p:sp>
      <p:sp>
        <p:nvSpPr>
          <p:cNvPr id="37" name="Text 35"/>
          <p:cNvSpPr/>
          <p:nvPr/>
        </p:nvSpPr>
        <p:spPr>
          <a:xfrm>
            <a:off x="8503920" y="4709160"/>
            <a:ext cx="2651760" cy="777240"/>
          </a:xfrm>
          <a:prstGeom prst="rect">
            <a:avLst/>
          </a:prstGeom>
          <a:noFill/>
          <a:ln/>
        </p:spPr>
        <p:txBody>
          <a:bodyPr wrap="square" rtlCol="0" anchor="ctr"/>
          <a:lstStyle/>
          <a:p>
            <a:pPr indent="0" marL="0">
              <a:lnSpc>
                <a:spcPts val="1400"/>
              </a:lnSpc>
              <a:buNone/>
            </a:pPr>
            <a:r>
              <a:rPr lang="en-US" sz="1050" dirty="0">
                <a:solidFill>
                  <a:srgbClr val="0F172A"/>
                </a:solidFill>
                <a:latin typeface="Arial" pitchFamily="34" charset="0"/>
                <a:ea typeface="Arial" pitchFamily="34" charset="-122"/>
                <a:cs typeface="Arial" pitchFamily="34" charset="-120"/>
              </a:rPr>
              <a:t>Downloadable, shareable clinical visit summaries replacing lost paper slips.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CORE INNOVATION</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Autonomous AI Care Coordinator &amp; Recovery Daemon</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The engine that turns static prescriptions into dynamic recovery telemetry and proactive alerts</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5239512" cy="2103120"/>
          </a:xfrm>
          <a:prstGeom prst="roundRect">
            <a:avLst/>
          </a:prstGeom>
          <a:solidFill>
            <a:srgbClr val="FFFFFF"/>
          </a:solidFill>
          <a:ln w="19050">
            <a:solidFill>
              <a:srgbClr val="E2E8F0"/>
            </a:solidFill>
            <a:prstDash val="solid"/>
          </a:ln>
        </p:spPr>
      </p:sp>
      <p:sp>
        <p:nvSpPr>
          <p:cNvPr id="9" name="Text 7"/>
          <p:cNvSpPr/>
          <p:nvPr/>
        </p:nvSpPr>
        <p:spPr>
          <a:xfrm>
            <a:off x="1005840" y="1874520"/>
            <a:ext cx="3291840" cy="320040"/>
          </a:xfrm>
          <a:prstGeom prst="rect">
            <a:avLst/>
          </a:prstGeom>
          <a:noFill/>
          <a:ln/>
        </p:spPr>
        <p:txBody>
          <a:bodyPr wrap="square" rtlCol="0" anchor="ctr"/>
          <a:lstStyle/>
          <a:p>
            <a:pPr indent="0" marL="0">
              <a:buNone/>
            </a:pPr>
            <a:r>
              <a:rPr lang="en-US" sz="1300" b="1" dirty="0">
                <a:solidFill>
                  <a:srgbClr val="2563EB"/>
                </a:solidFill>
                <a:latin typeface="Arial" pitchFamily="34" charset="0"/>
                <a:ea typeface="Arial" pitchFamily="34" charset="-122"/>
                <a:cs typeface="Arial" pitchFamily="34" charset="-120"/>
              </a:rPr>
              <a:t>3-Slot Daily Dose Telemetry</a:t>
            </a:r>
            <a:endParaRPr lang="en-US" sz="1300" dirty="0"/>
          </a:p>
        </p:txBody>
      </p:sp>
      <p:sp>
        <p:nvSpPr>
          <p:cNvPr id="10" name="Shape 8"/>
          <p:cNvSpPr/>
          <p:nvPr/>
        </p:nvSpPr>
        <p:spPr>
          <a:xfrm>
            <a:off x="4389120" y="1874520"/>
            <a:ext cx="1325880" cy="256032"/>
          </a:xfrm>
          <a:prstGeom prst="roundRect">
            <a:avLst/>
          </a:prstGeom>
          <a:solidFill>
            <a:srgbClr val="F1F5F9"/>
          </a:solidFill>
          <a:ln/>
        </p:spPr>
      </p:sp>
      <p:sp>
        <p:nvSpPr>
          <p:cNvPr id="11" name="Text 9"/>
          <p:cNvSpPr/>
          <p:nvPr/>
        </p:nvSpPr>
        <p:spPr>
          <a:xfrm>
            <a:off x="4389120" y="1892808"/>
            <a:ext cx="1325880" cy="219456"/>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Automated Schedule</a:t>
            </a:r>
            <a:endParaRPr lang="en-US" sz="850" dirty="0"/>
          </a:p>
        </p:txBody>
      </p:sp>
      <p:sp>
        <p:nvSpPr>
          <p:cNvPr id="12" name="Shape 10"/>
          <p:cNvSpPr/>
          <p:nvPr/>
        </p:nvSpPr>
        <p:spPr>
          <a:xfrm>
            <a:off x="1005840" y="2286000"/>
            <a:ext cx="73152" cy="73152"/>
          </a:xfrm>
          <a:prstGeom prst="ellipse">
            <a:avLst/>
          </a:prstGeom>
          <a:solidFill>
            <a:srgbClr val="2563EB"/>
          </a:solidFill>
          <a:ln/>
        </p:spPr>
      </p:sp>
      <p:sp>
        <p:nvSpPr>
          <p:cNvPr id="13" name="Text 11"/>
          <p:cNvSpPr/>
          <p:nvPr/>
        </p:nvSpPr>
        <p:spPr>
          <a:xfrm>
            <a:off x="1143000" y="2221992"/>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Deconstructs doctor prescriptions (e.g., 1-0-1) into Morning, Afternoon, and Night slots.</a:t>
            </a:r>
            <a:endParaRPr lang="en-US" sz="950" dirty="0"/>
          </a:p>
        </p:txBody>
      </p:sp>
      <p:sp>
        <p:nvSpPr>
          <p:cNvPr id="14" name="Shape 12"/>
          <p:cNvSpPr/>
          <p:nvPr/>
        </p:nvSpPr>
        <p:spPr>
          <a:xfrm>
            <a:off x="1005840" y="2724912"/>
            <a:ext cx="73152" cy="73152"/>
          </a:xfrm>
          <a:prstGeom prst="ellipse">
            <a:avLst/>
          </a:prstGeom>
          <a:solidFill>
            <a:srgbClr val="2563EB"/>
          </a:solidFill>
          <a:ln/>
        </p:spPr>
      </p:sp>
      <p:sp>
        <p:nvSpPr>
          <p:cNvPr id="15" name="Text 13"/>
          <p:cNvSpPr/>
          <p:nvPr/>
        </p:nvSpPr>
        <p:spPr>
          <a:xfrm>
            <a:off x="1143000" y="2660904"/>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Patients check off doses in one tap; calculates live compliance score (e.g. 94% adherence).</a:t>
            </a:r>
            <a:endParaRPr lang="en-US" sz="950" dirty="0"/>
          </a:p>
        </p:txBody>
      </p:sp>
      <p:sp>
        <p:nvSpPr>
          <p:cNvPr id="16" name="Shape 14"/>
          <p:cNvSpPr/>
          <p:nvPr/>
        </p:nvSpPr>
        <p:spPr>
          <a:xfrm>
            <a:off x="1005840" y="3163824"/>
            <a:ext cx="73152" cy="73152"/>
          </a:xfrm>
          <a:prstGeom prst="ellipse">
            <a:avLst/>
          </a:prstGeom>
          <a:solidFill>
            <a:srgbClr val="2563EB"/>
          </a:solidFill>
          <a:ln/>
        </p:spPr>
      </p:sp>
      <p:sp>
        <p:nvSpPr>
          <p:cNvPr id="17" name="Text 15"/>
          <p:cNvSpPr/>
          <p:nvPr/>
        </p:nvSpPr>
        <p:spPr>
          <a:xfrm>
            <a:off x="1143000" y="3099816"/>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Flags missed doses before patient health deteriorates.</a:t>
            </a:r>
            <a:endParaRPr lang="en-US" sz="950" dirty="0"/>
          </a:p>
        </p:txBody>
      </p:sp>
      <p:sp>
        <p:nvSpPr>
          <p:cNvPr id="18" name="Shape 16"/>
          <p:cNvSpPr/>
          <p:nvPr/>
        </p:nvSpPr>
        <p:spPr>
          <a:xfrm>
            <a:off x="6217920" y="1691640"/>
            <a:ext cx="5239512" cy="2103120"/>
          </a:xfrm>
          <a:prstGeom prst="roundRect">
            <a:avLst/>
          </a:prstGeom>
          <a:solidFill>
            <a:srgbClr val="FFFFFF"/>
          </a:solidFill>
          <a:ln w="19050">
            <a:solidFill>
              <a:srgbClr val="E2E8F0"/>
            </a:solidFill>
            <a:prstDash val="solid"/>
          </a:ln>
        </p:spPr>
      </p:sp>
      <p:sp>
        <p:nvSpPr>
          <p:cNvPr id="19" name="Text 17"/>
          <p:cNvSpPr/>
          <p:nvPr/>
        </p:nvSpPr>
        <p:spPr>
          <a:xfrm>
            <a:off x="6492240" y="1874520"/>
            <a:ext cx="3291840" cy="320040"/>
          </a:xfrm>
          <a:prstGeom prst="rect">
            <a:avLst/>
          </a:prstGeom>
          <a:noFill/>
          <a:ln/>
        </p:spPr>
        <p:txBody>
          <a:bodyPr wrap="square" rtlCol="0" anchor="ctr"/>
          <a:lstStyle/>
          <a:p>
            <a:pPr indent="0" marL="0">
              <a:buNone/>
            </a:pPr>
            <a:r>
              <a:rPr lang="en-US" sz="1300" b="1" dirty="0">
                <a:solidFill>
                  <a:srgbClr val="2563EB"/>
                </a:solidFill>
                <a:latin typeface="Arial" pitchFamily="34" charset="0"/>
                <a:ea typeface="Arial" pitchFamily="34" charset="-122"/>
                <a:cs typeface="Arial" pitchFamily="34" charset="-120"/>
              </a:rPr>
              <a:t>Proactive T-1 Follow-up Checklist</a:t>
            </a:r>
            <a:endParaRPr lang="en-US" sz="1300" dirty="0"/>
          </a:p>
        </p:txBody>
      </p:sp>
      <p:sp>
        <p:nvSpPr>
          <p:cNvPr id="20" name="Shape 18"/>
          <p:cNvSpPr/>
          <p:nvPr/>
        </p:nvSpPr>
        <p:spPr>
          <a:xfrm>
            <a:off x="9875520" y="1874520"/>
            <a:ext cx="1325880" cy="256032"/>
          </a:xfrm>
          <a:prstGeom prst="roundRect">
            <a:avLst/>
          </a:prstGeom>
          <a:solidFill>
            <a:srgbClr val="F1F5F9"/>
          </a:solidFill>
          <a:ln/>
        </p:spPr>
      </p:sp>
      <p:sp>
        <p:nvSpPr>
          <p:cNvPr id="21" name="Text 19"/>
          <p:cNvSpPr/>
          <p:nvPr/>
        </p:nvSpPr>
        <p:spPr>
          <a:xfrm>
            <a:off x="9875520" y="1892808"/>
            <a:ext cx="1325880" cy="219456"/>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24-Hour Pre-Appointment</a:t>
            </a:r>
            <a:endParaRPr lang="en-US" sz="850" dirty="0"/>
          </a:p>
        </p:txBody>
      </p:sp>
      <p:sp>
        <p:nvSpPr>
          <p:cNvPr id="22" name="Shape 20"/>
          <p:cNvSpPr/>
          <p:nvPr/>
        </p:nvSpPr>
        <p:spPr>
          <a:xfrm>
            <a:off x="6492240" y="2286000"/>
            <a:ext cx="73152" cy="73152"/>
          </a:xfrm>
          <a:prstGeom prst="ellipse">
            <a:avLst/>
          </a:prstGeom>
          <a:solidFill>
            <a:srgbClr val="2563EB"/>
          </a:solidFill>
          <a:ln/>
        </p:spPr>
      </p:sp>
      <p:sp>
        <p:nvSpPr>
          <p:cNvPr id="23" name="Text 21"/>
          <p:cNvSpPr/>
          <p:nvPr/>
        </p:nvSpPr>
        <p:spPr>
          <a:xfrm>
            <a:off x="6629400" y="2221992"/>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Overnight Fasting Alert: 10-12h water-only reminder after 9 PM for blood panels.</a:t>
            </a:r>
            <a:endParaRPr lang="en-US" sz="950" dirty="0"/>
          </a:p>
        </p:txBody>
      </p:sp>
      <p:sp>
        <p:nvSpPr>
          <p:cNvPr id="24" name="Shape 22"/>
          <p:cNvSpPr/>
          <p:nvPr/>
        </p:nvSpPr>
        <p:spPr>
          <a:xfrm>
            <a:off x="6492240" y="2724912"/>
            <a:ext cx="73152" cy="73152"/>
          </a:xfrm>
          <a:prstGeom prst="ellipse">
            <a:avLst/>
          </a:prstGeom>
          <a:solidFill>
            <a:srgbClr val="2563EB"/>
          </a:solidFill>
          <a:ln/>
        </p:spPr>
      </p:sp>
      <p:sp>
        <p:nvSpPr>
          <p:cNvPr id="25" name="Text 23"/>
          <p:cNvSpPr/>
          <p:nvPr/>
        </p:nvSpPr>
        <p:spPr>
          <a:xfrm>
            <a:off x="6629400" y="2660904"/>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Packaging &amp; Strips Rule: Reminds patient to carry used medicine foils for doctor audit.</a:t>
            </a:r>
            <a:endParaRPr lang="en-US" sz="950" dirty="0"/>
          </a:p>
        </p:txBody>
      </p:sp>
      <p:sp>
        <p:nvSpPr>
          <p:cNvPr id="26" name="Shape 24"/>
          <p:cNvSpPr/>
          <p:nvPr/>
        </p:nvSpPr>
        <p:spPr>
          <a:xfrm>
            <a:off x="6492240" y="3163824"/>
            <a:ext cx="73152" cy="73152"/>
          </a:xfrm>
          <a:prstGeom prst="ellipse">
            <a:avLst/>
          </a:prstGeom>
          <a:solidFill>
            <a:srgbClr val="2563EB"/>
          </a:solidFill>
          <a:ln/>
        </p:spPr>
      </p:sp>
      <p:sp>
        <p:nvSpPr>
          <p:cNvPr id="27" name="Text 25"/>
          <p:cNvSpPr/>
          <p:nvPr/>
        </p:nvSpPr>
        <p:spPr>
          <a:xfrm>
            <a:off x="6629400" y="3099816"/>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Morning Dose Timing: Warns not to take diabetes pills before fasting blood draws.</a:t>
            </a:r>
            <a:endParaRPr lang="en-US" sz="950" dirty="0"/>
          </a:p>
        </p:txBody>
      </p:sp>
      <p:sp>
        <p:nvSpPr>
          <p:cNvPr id="28" name="Shape 26"/>
          <p:cNvSpPr/>
          <p:nvPr/>
        </p:nvSpPr>
        <p:spPr>
          <a:xfrm>
            <a:off x="731520" y="3931920"/>
            <a:ext cx="5239512" cy="2103120"/>
          </a:xfrm>
          <a:prstGeom prst="roundRect">
            <a:avLst/>
          </a:prstGeom>
          <a:solidFill>
            <a:srgbClr val="FFFFFF"/>
          </a:solidFill>
          <a:ln w="19050">
            <a:solidFill>
              <a:srgbClr val="E2E8F0"/>
            </a:solidFill>
            <a:prstDash val="solid"/>
          </a:ln>
        </p:spPr>
      </p:sp>
      <p:sp>
        <p:nvSpPr>
          <p:cNvPr id="29" name="Text 27"/>
          <p:cNvSpPr/>
          <p:nvPr/>
        </p:nvSpPr>
        <p:spPr>
          <a:xfrm>
            <a:off x="1005840" y="4114800"/>
            <a:ext cx="3291840" cy="320040"/>
          </a:xfrm>
          <a:prstGeom prst="rect">
            <a:avLst/>
          </a:prstGeom>
          <a:noFill/>
          <a:ln/>
        </p:spPr>
        <p:txBody>
          <a:bodyPr wrap="square" rtlCol="0" anchor="ctr"/>
          <a:lstStyle/>
          <a:p>
            <a:pPr indent="0" marL="0">
              <a:buNone/>
            </a:pPr>
            <a:r>
              <a:rPr lang="en-US" sz="1300" b="1" dirty="0">
                <a:solidFill>
                  <a:srgbClr val="2563EB"/>
                </a:solidFill>
                <a:latin typeface="Arial" pitchFamily="34" charset="0"/>
                <a:ea typeface="Arial" pitchFamily="34" charset="-122"/>
                <a:cs typeface="Arial" pitchFamily="34" charset="-120"/>
              </a:rPr>
              <a:t>Condition-Specific Precautions</a:t>
            </a:r>
            <a:endParaRPr lang="en-US" sz="1300" dirty="0"/>
          </a:p>
        </p:txBody>
      </p:sp>
      <p:sp>
        <p:nvSpPr>
          <p:cNvPr id="30" name="Shape 28"/>
          <p:cNvSpPr/>
          <p:nvPr/>
        </p:nvSpPr>
        <p:spPr>
          <a:xfrm>
            <a:off x="4389120" y="4114800"/>
            <a:ext cx="1325880" cy="256032"/>
          </a:xfrm>
          <a:prstGeom prst="roundRect">
            <a:avLst/>
          </a:prstGeom>
          <a:solidFill>
            <a:srgbClr val="F1F5F9"/>
          </a:solidFill>
          <a:ln/>
        </p:spPr>
      </p:sp>
      <p:sp>
        <p:nvSpPr>
          <p:cNvPr id="31" name="Text 29"/>
          <p:cNvSpPr/>
          <p:nvPr/>
        </p:nvSpPr>
        <p:spPr>
          <a:xfrm>
            <a:off x="4389120" y="4133088"/>
            <a:ext cx="1325880" cy="219456"/>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Clinical Synthesis</a:t>
            </a:r>
            <a:endParaRPr lang="en-US" sz="850" dirty="0"/>
          </a:p>
        </p:txBody>
      </p:sp>
      <p:sp>
        <p:nvSpPr>
          <p:cNvPr id="32" name="Shape 30"/>
          <p:cNvSpPr/>
          <p:nvPr/>
        </p:nvSpPr>
        <p:spPr>
          <a:xfrm>
            <a:off x="1005840" y="4526280"/>
            <a:ext cx="73152" cy="73152"/>
          </a:xfrm>
          <a:prstGeom prst="ellipse">
            <a:avLst/>
          </a:prstGeom>
          <a:solidFill>
            <a:srgbClr val="2563EB"/>
          </a:solidFill>
          <a:ln/>
        </p:spPr>
      </p:sp>
      <p:sp>
        <p:nvSpPr>
          <p:cNvPr id="33" name="Text 31"/>
          <p:cNvSpPr/>
          <p:nvPr/>
        </p:nvSpPr>
        <p:spPr>
          <a:xfrm>
            <a:off x="1143000" y="4462272"/>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Tailored dietary &amp; lifestyle rules (Cardiovascular/Hypertension, Diabetes, Respiratory/Asthma).</a:t>
            </a:r>
            <a:endParaRPr lang="en-US" sz="950" dirty="0"/>
          </a:p>
        </p:txBody>
      </p:sp>
      <p:sp>
        <p:nvSpPr>
          <p:cNvPr id="34" name="Shape 32"/>
          <p:cNvSpPr/>
          <p:nvPr/>
        </p:nvSpPr>
        <p:spPr>
          <a:xfrm>
            <a:off x="1005840" y="4965192"/>
            <a:ext cx="73152" cy="73152"/>
          </a:xfrm>
          <a:prstGeom prst="ellipse">
            <a:avLst/>
          </a:prstGeom>
          <a:solidFill>
            <a:srgbClr val="2563EB"/>
          </a:solidFill>
          <a:ln/>
        </p:spPr>
      </p:sp>
      <p:sp>
        <p:nvSpPr>
          <p:cNvPr id="35" name="Text 33"/>
          <p:cNvSpPr/>
          <p:nvPr/>
        </p:nvSpPr>
        <p:spPr>
          <a:xfrm>
            <a:off x="1143000" y="4901184"/>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Provides plain-language nutritional guidance (low sodium, high fiber, hydration limits).</a:t>
            </a:r>
            <a:endParaRPr lang="en-US" sz="950" dirty="0"/>
          </a:p>
        </p:txBody>
      </p:sp>
      <p:sp>
        <p:nvSpPr>
          <p:cNvPr id="36" name="Shape 34"/>
          <p:cNvSpPr/>
          <p:nvPr/>
        </p:nvSpPr>
        <p:spPr>
          <a:xfrm>
            <a:off x="1005840" y="5404104"/>
            <a:ext cx="73152" cy="73152"/>
          </a:xfrm>
          <a:prstGeom prst="ellipse">
            <a:avLst/>
          </a:prstGeom>
          <a:solidFill>
            <a:srgbClr val="2563EB"/>
          </a:solidFill>
          <a:ln/>
        </p:spPr>
      </p:sp>
      <p:sp>
        <p:nvSpPr>
          <p:cNvPr id="37" name="Text 35"/>
          <p:cNvSpPr/>
          <p:nvPr/>
        </p:nvSpPr>
        <p:spPr>
          <a:xfrm>
            <a:off x="1143000" y="5340096"/>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Identifies disease-specific recovery red-flags.</a:t>
            </a:r>
            <a:endParaRPr lang="en-US" sz="950" dirty="0"/>
          </a:p>
        </p:txBody>
      </p:sp>
      <p:sp>
        <p:nvSpPr>
          <p:cNvPr id="38" name="Shape 36"/>
          <p:cNvSpPr/>
          <p:nvPr/>
        </p:nvSpPr>
        <p:spPr>
          <a:xfrm>
            <a:off x="6217920" y="3931920"/>
            <a:ext cx="5239512" cy="2103120"/>
          </a:xfrm>
          <a:prstGeom prst="roundRect">
            <a:avLst/>
          </a:prstGeom>
          <a:solidFill>
            <a:srgbClr val="FFFFFF"/>
          </a:solidFill>
          <a:ln w="19050">
            <a:solidFill>
              <a:srgbClr val="E2E8F0"/>
            </a:solidFill>
            <a:prstDash val="solid"/>
          </a:ln>
        </p:spPr>
      </p:sp>
      <p:sp>
        <p:nvSpPr>
          <p:cNvPr id="39" name="Text 37"/>
          <p:cNvSpPr/>
          <p:nvPr/>
        </p:nvSpPr>
        <p:spPr>
          <a:xfrm>
            <a:off x="6492240" y="4114800"/>
            <a:ext cx="3291840" cy="320040"/>
          </a:xfrm>
          <a:prstGeom prst="rect">
            <a:avLst/>
          </a:prstGeom>
          <a:noFill/>
          <a:ln/>
        </p:spPr>
        <p:txBody>
          <a:bodyPr wrap="square" rtlCol="0" anchor="ctr"/>
          <a:lstStyle/>
          <a:p>
            <a:pPr indent="0" marL="0">
              <a:buNone/>
            </a:pPr>
            <a:r>
              <a:rPr lang="en-US" sz="1300" b="1" dirty="0">
                <a:solidFill>
                  <a:srgbClr val="2563EB"/>
                </a:solidFill>
                <a:latin typeface="Arial" pitchFamily="34" charset="0"/>
                <a:ea typeface="Arial" pitchFamily="34" charset="-122"/>
                <a:cs typeface="Arial" pitchFamily="34" charset="-120"/>
              </a:rPr>
              <a:t>Bilingual AI Assistant &amp; Triage</a:t>
            </a:r>
            <a:endParaRPr lang="en-US" sz="1300" dirty="0"/>
          </a:p>
        </p:txBody>
      </p:sp>
      <p:sp>
        <p:nvSpPr>
          <p:cNvPr id="40" name="Shape 38"/>
          <p:cNvSpPr/>
          <p:nvPr/>
        </p:nvSpPr>
        <p:spPr>
          <a:xfrm>
            <a:off x="9875520" y="4114800"/>
            <a:ext cx="1325880" cy="256032"/>
          </a:xfrm>
          <a:prstGeom prst="roundRect">
            <a:avLst/>
          </a:prstGeom>
          <a:solidFill>
            <a:srgbClr val="F1F5F9"/>
          </a:solidFill>
          <a:ln/>
        </p:spPr>
      </p:sp>
      <p:sp>
        <p:nvSpPr>
          <p:cNvPr id="41" name="Text 39"/>
          <p:cNvSpPr/>
          <p:nvPr/>
        </p:nvSpPr>
        <p:spPr>
          <a:xfrm>
            <a:off x="9875520" y="4133088"/>
            <a:ext cx="1325880" cy="219456"/>
          </a:xfrm>
          <a:prstGeom prst="rect">
            <a:avLst/>
          </a:prstGeom>
          <a:noFill/>
          <a:ln/>
        </p:spPr>
        <p:txBody>
          <a:bodyPr wrap="square" rtlCol="0" anchor="ctr"/>
          <a:lstStyle/>
          <a:p>
            <a:pPr algn="ctr" indent="0" marL="0">
              <a:buNone/>
            </a:pPr>
            <a:r>
              <a:rPr lang="en-US" sz="850" b="1" dirty="0">
                <a:solidFill>
                  <a:srgbClr val="475569"/>
                </a:solidFill>
                <a:latin typeface="Arial" pitchFamily="34" charset="0"/>
                <a:ea typeface="Arial" pitchFamily="34" charset="-122"/>
                <a:cs typeface="Arial" pitchFamily="34" charset="-120"/>
              </a:rPr>
              <a:t>English &amp; Hindi Q&amp;A</a:t>
            </a:r>
            <a:endParaRPr lang="en-US" sz="850" dirty="0"/>
          </a:p>
        </p:txBody>
      </p:sp>
      <p:sp>
        <p:nvSpPr>
          <p:cNvPr id="42" name="Shape 40"/>
          <p:cNvSpPr/>
          <p:nvPr/>
        </p:nvSpPr>
        <p:spPr>
          <a:xfrm>
            <a:off x="6492240" y="4526280"/>
            <a:ext cx="73152" cy="73152"/>
          </a:xfrm>
          <a:prstGeom prst="ellipse">
            <a:avLst/>
          </a:prstGeom>
          <a:solidFill>
            <a:srgbClr val="2563EB"/>
          </a:solidFill>
          <a:ln/>
        </p:spPr>
      </p:sp>
      <p:sp>
        <p:nvSpPr>
          <p:cNvPr id="43" name="Text 41"/>
          <p:cNvSpPr/>
          <p:nvPr/>
        </p:nvSpPr>
        <p:spPr>
          <a:xfrm>
            <a:off x="6629400" y="4462272"/>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Answers patient recovery questions 24/7 with clinical safety guardrails.</a:t>
            </a:r>
            <a:endParaRPr lang="en-US" sz="950" dirty="0"/>
          </a:p>
        </p:txBody>
      </p:sp>
      <p:sp>
        <p:nvSpPr>
          <p:cNvPr id="44" name="Shape 42"/>
          <p:cNvSpPr/>
          <p:nvPr/>
        </p:nvSpPr>
        <p:spPr>
          <a:xfrm>
            <a:off x="6492240" y="4965192"/>
            <a:ext cx="73152" cy="73152"/>
          </a:xfrm>
          <a:prstGeom prst="ellipse">
            <a:avLst/>
          </a:prstGeom>
          <a:solidFill>
            <a:srgbClr val="2563EB"/>
          </a:solidFill>
          <a:ln/>
        </p:spPr>
      </p:sp>
      <p:sp>
        <p:nvSpPr>
          <p:cNvPr id="45" name="Text 43"/>
          <p:cNvSpPr/>
          <p:nvPr/>
        </p:nvSpPr>
        <p:spPr>
          <a:xfrm>
            <a:off x="6629400" y="4901184"/>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Recognizes emergency symptoms (chest pain, dyspnea) and triggers immediate 108 emergency hotline.</a:t>
            </a:r>
            <a:endParaRPr lang="en-US" sz="950" dirty="0"/>
          </a:p>
        </p:txBody>
      </p:sp>
      <p:sp>
        <p:nvSpPr>
          <p:cNvPr id="46" name="Shape 44"/>
          <p:cNvSpPr/>
          <p:nvPr/>
        </p:nvSpPr>
        <p:spPr>
          <a:xfrm>
            <a:off x="6492240" y="5404104"/>
            <a:ext cx="73152" cy="73152"/>
          </a:xfrm>
          <a:prstGeom prst="ellipse">
            <a:avLst/>
          </a:prstGeom>
          <a:solidFill>
            <a:srgbClr val="2563EB"/>
          </a:solidFill>
          <a:ln/>
        </p:spPr>
      </p:sp>
      <p:sp>
        <p:nvSpPr>
          <p:cNvPr id="47" name="Text 45"/>
          <p:cNvSpPr/>
          <p:nvPr/>
        </p:nvSpPr>
        <p:spPr>
          <a:xfrm>
            <a:off x="6629400" y="5340096"/>
            <a:ext cx="4572000" cy="411480"/>
          </a:xfrm>
          <a:prstGeom prst="rect">
            <a:avLst/>
          </a:prstGeom>
          <a:noFill/>
          <a:ln/>
        </p:spPr>
        <p:txBody>
          <a:bodyPr wrap="square" rtlCol="0" anchor="ctr"/>
          <a:lstStyle/>
          <a:p>
            <a:pPr indent="0" marL="0">
              <a:lnSpc>
                <a:spcPts val="1200"/>
              </a:lnSpc>
              <a:buNone/>
            </a:pPr>
            <a:r>
              <a:rPr lang="en-US" sz="950" dirty="0">
                <a:solidFill>
                  <a:srgbClr val="0F172A"/>
                </a:solidFill>
                <a:latin typeface="Arial" pitchFamily="34" charset="0"/>
                <a:ea typeface="Arial" pitchFamily="34" charset="-122"/>
                <a:cs typeface="Arial" pitchFamily="34" charset="-120"/>
              </a:rPr>
              <a:t>Hourly node-cron daemon dispatches missed-visit tasks to ASHA health workers.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TEAM DISTRIBUTION</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Team Organization &amp; 5-Member Engineering Ownership</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Full-stack engineering distribution across Team CodeByte for IIITD</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2029968" cy="4389120"/>
          </a:xfrm>
          <a:prstGeom prst="roundRect">
            <a:avLst/>
          </a:prstGeom>
          <a:solidFill>
            <a:srgbClr val="EFF6FF"/>
          </a:solidFill>
          <a:ln w="19050">
            <a:solidFill>
              <a:srgbClr val="93C5FD"/>
            </a:solidFill>
            <a:prstDash val="solid"/>
          </a:ln>
        </p:spPr>
      </p:sp>
      <p:sp>
        <p:nvSpPr>
          <p:cNvPr id="9" name="Text 7"/>
          <p:cNvSpPr/>
          <p:nvPr/>
        </p:nvSpPr>
        <p:spPr>
          <a:xfrm>
            <a:off x="841248" y="1874520"/>
            <a:ext cx="1810512" cy="320040"/>
          </a:xfrm>
          <a:prstGeom prst="rect">
            <a:avLst/>
          </a:prstGeom>
          <a:noFill/>
          <a:ln/>
        </p:spPr>
        <p:txBody>
          <a:bodyPr wrap="square" rtlCol="0" anchor="ctr"/>
          <a:lstStyle/>
          <a:p>
            <a:pPr algn="ctr" indent="0" marL="0">
              <a:buNone/>
            </a:pPr>
            <a:r>
              <a:rPr lang="en-US" sz="1300" b="1" dirty="0">
                <a:solidFill>
                  <a:srgbClr val="1D4ED8"/>
                </a:solidFill>
                <a:latin typeface="Arial" pitchFamily="34" charset="0"/>
                <a:ea typeface="Arial" pitchFamily="34" charset="-122"/>
                <a:cs typeface="Arial" pitchFamily="34" charset="-120"/>
              </a:rPr>
              <a:t>Parth Mahajan</a:t>
            </a:r>
            <a:endParaRPr lang="en-US" sz="1300" dirty="0"/>
          </a:p>
        </p:txBody>
      </p:sp>
      <p:sp>
        <p:nvSpPr>
          <p:cNvPr id="10" name="Text 8"/>
          <p:cNvSpPr/>
          <p:nvPr/>
        </p:nvSpPr>
        <p:spPr>
          <a:xfrm>
            <a:off x="841248" y="2194560"/>
            <a:ext cx="1810512" cy="320040"/>
          </a:xfrm>
          <a:prstGeom prst="rect">
            <a:avLst/>
          </a:prstGeom>
          <a:noFill/>
          <a:ln/>
        </p:spPr>
        <p:txBody>
          <a:bodyPr wrap="square" rtlCol="0" anchor="ctr"/>
          <a:lstStyle/>
          <a:p>
            <a:pPr algn="ctr" indent="0" marL="0">
              <a:buNone/>
            </a:pPr>
            <a:r>
              <a:rPr lang="en-US" sz="950" b="1" dirty="0">
                <a:solidFill>
                  <a:srgbClr val="0F172A"/>
                </a:solidFill>
                <a:latin typeface="Arial" pitchFamily="34" charset="0"/>
                <a:ea typeface="Arial" pitchFamily="34" charset="-122"/>
                <a:cs typeface="Arial" pitchFamily="34" charset="-120"/>
              </a:rPr>
              <a:t>Backend Architecture &amp; Security</a:t>
            </a:r>
            <a:endParaRPr lang="en-US" sz="950" dirty="0"/>
          </a:p>
        </p:txBody>
      </p:sp>
      <p:sp>
        <p:nvSpPr>
          <p:cNvPr id="11" name="Text 9"/>
          <p:cNvSpPr/>
          <p:nvPr/>
        </p:nvSpPr>
        <p:spPr>
          <a:xfrm>
            <a:off x="841248" y="2514600"/>
            <a:ext cx="1810512" cy="228600"/>
          </a:xfrm>
          <a:prstGeom prst="rect">
            <a:avLst/>
          </a:prstGeom>
          <a:noFill/>
          <a:ln/>
        </p:spPr>
        <p:txBody>
          <a:bodyPr wrap="square" rtlCol="0" anchor="ctr"/>
          <a:lstStyle/>
          <a:p>
            <a:pPr algn="ctr" indent="0" marL="0">
              <a:buNone/>
            </a:pPr>
            <a:r>
              <a:rPr lang="en-US" sz="850" dirty="0">
                <a:solidFill>
                  <a:srgbClr val="1D4ED8"/>
                </a:solidFill>
                <a:latin typeface="Arial" pitchFamily="34" charset="0"/>
                <a:ea typeface="Arial" pitchFamily="34" charset="-122"/>
                <a:cs typeface="Arial" pitchFamily="34" charset="-120"/>
              </a:rPr>
              <a:t>Database Modeling &amp; Core Auth</a:t>
            </a:r>
            <a:endParaRPr lang="en-US" sz="850" dirty="0"/>
          </a:p>
        </p:txBody>
      </p:sp>
      <p:sp>
        <p:nvSpPr>
          <p:cNvPr id="12" name="Shape 10"/>
          <p:cNvSpPr/>
          <p:nvPr/>
        </p:nvSpPr>
        <p:spPr>
          <a:xfrm>
            <a:off x="868680" y="2788920"/>
            <a:ext cx="1755648" cy="0"/>
          </a:xfrm>
          <a:prstGeom prst="line">
            <a:avLst/>
          </a:prstGeom>
          <a:noFill/>
          <a:ln w="12700">
            <a:solidFill>
              <a:srgbClr val="93C5FD"/>
            </a:solidFill>
            <a:prstDash val="solid"/>
          </a:ln>
        </p:spPr>
      </p:sp>
      <p:sp>
        <p:nvSpPr>
          <p:cNvPr id="13" name="Shape 11"/>
          <p:cNvSpPr/>
          <p:nvPr/>
        </p:nvSpPr>
        <p:spPr>
          <a:xfrm>
            <a:off x="868680" y="2971800"/>
            <a:ext cx="73152" cy="73152"/>
          </a:xfrm>
          <a:prstGeom prst="ellipse">
            <a:avLst/>
          </a:prstGeom>
          <a:solidFill>
            <a:srgbClr val="1D4ED8"/>
          </a:solidFill>
          <a:ln/>
        </p:spPr>
      </p:sp>
      <p:sp>
        <p:nvSpPr>
          <p:cNvPr id="14" name="Text 12"/>
          <p:cNvSpPr/>
          <p:nvPr/>
        </p:nvSpPr>
        <p:spPr>
          <a:xfrm>
            <a:off x="987552" y="2907792"/>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Formulated MongoDB schemas (User, Encounter, Prescription, FollowUp, Vitals, Task, Alert)</a:t>
            </a:r>
            <a:endParaRPr lang="en-US" sz="880" dirty="0"/>
          </a:p>
        </p:txBody>
      </p:sp>
      <p:sp>
        <p:nvSpPr>
          <p:cNvPr id="15" name="Shape 13"/>
          <p:cNvSpPr/>
          <p:nvPr/>
        </p:nvSpPr>
        <p:spPr>
          <a:xfrm>
            <a:off x="868680" y="3776472"/>
            <a:ext cx="73152" cy="73152"/>
          </a:xfrm>
          <a:prstGeom prst="ellipse">
            <a:avLst/>
          </a:prstGeom>
          <a:solidFill>
            <a:srgbClr val="1D4ED8"/>
          </a:solidFill>
          <a:ln/>
        </p:spPr>
      </p:sp>
      <p:sp>
        <p:nvSpPr>
          <p:cNvPr id="16" name="Text 14"/>
          <p:cNvSpPr/>
          <p:nvPr/>
        </p:nvSpPr>
        <p:spPr>
          <a:xfrm>
            <a:off x="987552" y="3712464"/>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Implemented secure authentication pipeline with bcrypt &amp; JWT token handling</a:t>
            </a:r>
            <a:endParaRPr lang="en-US" sz="880" dirty="0"/>
          </a:p>
        </p:txBody>
      </p:sp>
      <p:sp>
        <p:nvSpPr>
          <p:cNvPr id="17" name="Shape 15"/>
          <p:cNvSpPr/>
          <p:nvPr/>
        </p:nvSpPr>
        <p:spPr>
          <a:xfrm>
            <a:off x="868680" y="4581144"/>
            <a:ext cx="73152" cy="73152"/>
          </a:xfrm>
          <a:prstGeom prst="ellipse">
            <a:avLst/>
          </a:prstGeom>
          <a:solidFill>
            <a:srgbClr val="1D4ED8"/>
          </a:solidFill>
          <a:ln/>
        </p:spPr>
      </p:sp>
      <p:sp>
        <p:nvSpPr>
          <p:cNvPr id="18" name="Text 16"/>
          <p:cNvSpPr/>
          <p:nvPr/>
        </p:nvSpPr>
        <p:spPr>
          <a:xfrm>
            <a:off x="987552" y="4517136"/>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Enforced Role-Based Access Control (RBAC) separating Doctor &amp; Patient privileges</a:t>
            </a:r>
            <a:endParaRPr lang="en-US" sz="880" dirty="0"/>
          </a:p>
        </p:txBody>
      </p:sp>
      <p:sp>
        <p:nvSpPr>
          <p:cNvPr id="19" name="Shape 17"/>
          <p:cNvSpPr/>
          <p:nvPr/>
        </p:nvSpPr>
        <p:spPr>
          <a:xfrm>
            <a:off x="868680" y="5385816"/>
            <a:ext cx="73152" cy="73152"/>
          </a:xfrm>
          <a:prstGeom prst="ellipse">
            <a:avLst/>
          </a:prstGeom>
          <a:solidFill>
            <a:srgbClr val="1D4ED8"/>
          </a:solidFill>
          <a:ln/>
        </p:spPr>
      </p:sp>
      <p:sp>
        <p:nvSpPr>
          <p:cNvPr id="20" name="Text 18"/>
          <p:cNvSpPr/>
          <p:nvPr/>
        </p:nvSpPr>
        <p:spPr>
          <a:xfrm>
            <a:off x="987552" y="5321808"/>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Structured modular RESTful API micro-routes and server controllers</a:t>
            </a:r>
            <a:endParaRPr lang="en-US" sz="880" dirty="0"/>
          </a:p>
        </p:txBody>
      </p:sp>
      <p:sp>
        <p:nvSpPr>
          <p:cNvPr id="21" name="Shape 19"/>
          <p:cNvSpPr/>
          <p:nvPr/>
        </p:nvSpPr>
        <p:spPr>
          <a:xfrm>
            <a:off x="2907792" y="1691640"/>
            <a:ext cx="2029968" cy="4389120"/>
          </a:xfrm>
          <a:prstGeom prst="roundRect">
            <a:avLst/>
          </a:prstGeom>
          <a:solidFill>
            <a:srgbClr val="F0FDF4"/>
          </a:solidFill>
          <a:ln w="19050">
            <a:solidFill>
              <a:srgbClr val="86EFAC"/>
            </a:solidFill>
            <a:prstDash val="solid"/>
          </a:ln>
        </p:spPr>
      </p:sp>
      <p:sp>
        <p:nvSpPr>
          <p:cNvPr id="22" name="Text 20"/>
          <p:cNvSpPr/>
          <p:nvPr/>
        </p:nvSpPr>
        <p:spPr>
          <a:xfrm>
            <a:off x="3017520" y="1874520"/>
            <a:ext cx="1810512" cy="320040"/>
          </a:xfrm>
          <a:prstGeom prst="rect">
            <a:avLst/>
          </a:prstGeom>
          <a:noFill/>
          <a:ln/>
        </p:spPr>
        <p:txBody>
          <a:bodyPr wrap="square" rtlCol="0" anchor="ctr"/>
          <a:lstStyle/>
          <a:p>
            <a:pPr algn="ctr" indent="0" marL="0">
              <a:buNone/>
            </a:pPr>
            <a:r>
              <a:rPr lang="en-US" sz="1300" b="1" dirty="0">
                <a:solidFill>
                  <a:srgbClr val="15803D"/>
                </a:solidFill>
                <a:latin typeface="Arial" pitchFamily="34" charset="0"/>
                <a:ea typeface="Arial" pitchFamily="34" charset="-122"/>
                <a:cs typeface="Arial" pitchFamily="34" charset="-120"/>
              </a:rPr>
              <a:t>Pranjal Sharma</a:t>
            </a:r>
            <a:endParaRPr lang="en-US" sz="1300" dirty="0"/>
          </a:p>
        </p:txBody>
      </p:sp>
      <p:sp>
        <p:nvSpPr>
          <p:cNvPr id="23" name="Text 21"/>
          <p:cNvSpPr/>
          <p:nvPr/>
        </p:nvSpPr>
        <p:spPr>
          <a:xfrm>
            <a:off x="3017520" y="2194560"/>
            <a:ext cx="1810512" cy="320040"/>
          </a:xfrm>
          <a:prstGeom prst="rect">
            <a:avLst/>
          </a:prstGeom>
          <a:noFill/>
          <a:ln/>
        </p:spPr>
        <p:txBody>
          <a:bodyPr wrap="square" rtlCol="0" anchor="ctr"/>
          <a:lstStyle/>
          <a:p>
            <a:pPr algn="ctr" indent="0" marL="0">
              <a:buNone/>
            </a:pPr>
            <a:r>
              <a:rPr lang="en-US" sz="950" b="1" dirty="0">
                <a:solidFill>
                  <a:srgbClr val="0F172A"/>
                </a:solidFill>
                <a:latin typeface="Arial" pitchFamily="34" charset="0"/>
                <a:ea typeface="Arial" pitchFamily="34" charset="-122"/>
                <a:cs typeface="Arial" pitchFamily="34" charset="-120"/>
              </a:rPr>
              <a:t>Patient Experience &amp; Frontend</a:t>
            </a:r>
            <a:endParaRPr lang="en-US" sz="950" dirty="0"/>
          </a:p>
        </p:txBody>
      </p:sp>
      <p:sp>
        <p:nvSpPr>
          <p:cNvPr id="24" name="Text 22"/>
          <p:cNvSpPr/>
          <p:nvPr/>
        </p:nvSpPr>
        <p:spPr>
          <a:xfrm>
            <a:off x="3017520" y="2514600"/>
            <a:ext cx="1810512" cy="228600"/>
          </a:xfrm>
          <a:prstGeom prst="rect">
            <a:avLst/>
          </a:prstGeom>
          <a:noFill/>
          <a:ln/>
        </p:spPr>
        <p:txBody>
          <a:bodyPr wrap="square" rtlCol="0" anchor="ctr"/>
          <a:lstStyle/>
          <a:p>
            <a:pPr algn="ctr" indent="0" marL="0">
              <a:buNone/>
            </a:pPr>
            <a:r>
              <a:rPr lang="en-US" sz="850" dirty="0">
                <a:solidFill>
                  <a:srgbClr val="15803D"/>
                </a:solidFill>
                <a:latin typeface="Arial" pitchFamily="34" charset="0"/>
                <a:ea typeface="Arial" pitchFamily="34" charset="-122"/>
                <a:cs typeface="Arial" pitchFamily="34" charset="-120"/>
              </a:rPr>
              <a:t>Multilingual Intake &amp; QR Pass</a:t>
            </a:r>
            <a:endParaRPr lang="en-US" sz="850" dirty="0"/>
          </a:p>
        </p:txBody>
      </p:sp>
      <p:sp>
        <p:nvSpPr>
          <p:cNvPr id="25" name="Shape 23"/>
          <p:cNvSpPr/>
          <p:nvPr/>
        </p:nvSpPr>
        <p:spPr>
          <a:xfrm>
            <a:off x="3044952" y="2788920"/>
            <a:ext cx="1755648" cy="0"/>
          </a:xfrm>
          <a:prstGeom prst="line">
            <a:avLst/>
          </a:prstGeom>
          <a:noFill/>
          <a:ln w="12700">
            <a:solidFill>
              <a:srgbClr val="86EFAC"/>
            </a:solidFill>
            <a:prstDash val="solid"/>
          </a:ln>
        </p:spPr>
      </p:sp>
      <p:sp>
        <p:nvSpPr>
          <p:cNvPr id="26" name="Shape 24"/>
          <p:cNvSpPr/>
          <p:nvPr/>
        </p:nvSpPr>
        <p:spPr>
          <a:xfrm>
            <a:off x="3044952" y="2971800"/>
            <a:ext cx="73152" cy="73152"/>
          </a:xfrm>
          <a:prstGeom prst="ellipse">
            <a:avLst/>
          </a:prstGeom>
          <a:solidFill>
            <a:srgbClr val="15803D"/>
          </a:solidFill>
          <a:ln/>
        </p:spPr>
      </p:sp>
      <p:sp>
        <p:nvSpPr>
          <p:cNvPr id="27" name="Text 25"/>
          <p:cNvSpPr/>
          <p:nvPr/>
        </p:nvSpPr>
        <p:spPr>
          <a:xfrm>
            <a:off x="3163824" y="2907792"/>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Architected responsive Patient Portal layouts, navigation &amp; theme design tokens</a:t>
            </a:r>
            <a:endParaRPr lang="en-US" sz="880" dirty="0"/>
          </a:p>
        </p:txBody>
      </p:sp>
      <p:sp>
        <p:nvSpPr>
          <p:cNvPr id="28" name="Shape 26"/>
          <p:cNvSpPr/>
          <p:nvPr/>
        </p:nvSpPr>
        <p:spPr>
          <a:xfrm>
            <a:off x="3044952" y="3776472"/>
            <a:ext cx="73152" cy="73152"/>
          </a:xfrm>
          <a:prstGeom prst="ellipse">
            <a:avLst/>
          </a:prstGeom>
          <a:solidFill>
            <a:srgbClr val="15803D"/>
          </a:solidFill>
          <a:ln/>
        </p:spPr>
      </p:sp>
      <p:sp>
        <p:nvSpPr>
          <p:cNvPr id="29" name="Text 27"/>
          <p:cNvSpPr/>
          <p:nvPr/>
        </p:nvSpPr>
        <p:spPr>
          <a:xfrm>
            <a:off x="3163824" y="3712464"/>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Engineered Voice-Assisted Vernacular Intake Flow in Hindi and English</a:t>
            </a:r>
            <a:endParaRPr lang="en-US" sz="880" dirty="0"/>
          </a:p>
        </p:txBody>
      </p:sp>
      <p:sp>
        <p:nvSpPr>
          <p:cNvPr id="30" name="Shape 28"/>
          <p:cNvSpPr/>
          <p:nvPr/>
        </p:nvSpPr>
        <p:spPr>
          <a:xfrm>
            <a:off x="3044952" y="4581144"/>
            <a:ext cx="73152" cy="73152"/>
          </a:xfrm>
          <a:prstGeom prst="ellipse">
            <a:avLst/>
          </a:prstGeom>
          <a:solidFill>
            <a:srgbClr val="15803D"/>
          </a:solidFill>
          <a:ln/>
        </p:spPr>
      </p:sp>
      <p:sp>
        <p:nvSpPr>
          <p:cNvPr id="31" name="Text 29"/>
          <p:cNvSpPr/>
          <p:nvPr/>
        </p:nvSpPr>
        <p:spPr>
          <a:xfrm>
            <a:off x="3163824" y="4517136"/>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Built Contactless Consent QR Pass generator and verification components</a:t>
            </a:r>
            <a:endParaRPr lang="en-US" sz="880" dirty="0"/>
          </a:p>
        </p:txBody>
      </p:sp>
      <p:sp>
        <p:nvSpPr>
          <p:cNvPr id="32" name="Shape 30"/>
          <p:cNvSpPr/>
          <p:nvPr/>
        </p:nvSpPr>
        <p:spPr>
          <a:xfrm>
            <a:off x="3044952" y="5385816"/>
            <a:ext cx="73152" cy="73152"/>
          </a:xfrm>
          <a:prstGeom prst="ellipse">
            <a:avLst/>
          </a:prstGeom>
          <a:solidFill>
            <a:srgbClr val="15803D"/>
          </a:solidFill>
          <a:ln/>
        </p:spPr>
      </p:sp>
      <p:sp>
        <p:nvSpPr>
          <p:cNvPr id="33" name="Text 31"/>
          <p:cNvSpPr/>
          <p:nvPr/>
        </p:nvSpPr>
        <p:spPr>
          <a:xfrm>
            <a:off x="3163824" y="5321808"/>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Developed digital prescription viewers, visit timelines &amp; diagnostic history</a:t>
            </a:r>
            <a:endParaRPr lang="en-US" sz="880" dirty="0"/>
          </a:p>
        </p:txBody>
      </p:sp>
      <p:sp>
        <p:nvSpPr>
          <p:cNvPr id="34" name="Shape 32"/>
          <p:cNvSpPr/>
          <p:nvPr/>
        </p:nvSpPr>
        <p:spPr>
          <a:xfrm>
            <a:off x="5084064" y="1691640"/>
            <a:ext cx="2029968" cy="4389120"/>
          </a:xfrm>
          <a:prstGeom prst="roundRect">
            <a:avLst/>
          </a:prstGeom>
          <a:solidFill>
            <a:srgbClr val="FAF5FF"/>
          </a:solidFill>
          <a:ln w="19050">
            <a:solidFill>
              <a:srgbClr val="D8B4FE"/>
            </a:solidFill>
            <a:prstDash val="solid"/>
          </a:ln>
        </p:spPr>
      </p:sp>
      <p:sp>
        <p:nvSpPr>
          <p:cNvPr id="35" name="Text 33"/>
          <p:cNvSpPr/>
          <p:nvPr/>
        </p:nvSpPr>
        <p:spPr>
          <a:xfrm>
            <a:off x="5193792" y="1874520"/>
            <a:ext cx="1810512" cy="320040"/>
          </a:xfrm>
          <a:prstGeom prst="rect">
            <a:avLst/>
          </a:prstGeom>
          <a:noFill/>
          <a:ln/>
        </p:spPr>
        <p:txBody>
          <a:bodyPr wrap="square" rtlCol="0" anchor="ctr"/>
          <a:lstStyle/>
          <a:p>
            <a:pPr algn="ctr" indent="0" marL="0">
              <a:buNone/>
            </a:pPr>
            <a:r>
              <a:rPr lang="en-US" sz="1300" b="1" dirty="0">
                <a:solidFill>
                  <a:srgbClr val="7E22CE"/>
                </a:solidFill>
                <a:latin typeface="Arial" pitchFamily="34" charset="0"/>
                <a:ea typeface="Arial" pitchFamily="34" charset="-122"/>
                <a:cs typeface="Arial" pitchFamily="34" charset="-120"/>
              </a:rPr>
              <a:t>Shreyas</a:t>
            </a:r>
            <a:endParaRPr lang="en-US" sz="1300" dirty="0"/>
          </a:p>
        </p:txBody>
      </p:sp>
      <p:sp>
        <p:nvSpPr>
          <p:cNvPr id="36" name="Text 34"/>
          <p:cNvSpPr/>
          <p:nvPr/>
        </p:nvSpPr>
        <p:spPr>
          <a:xfrm>
            <a:off x="5193792" y="2194560"/>
            <a:ext cx="1810512" cy="320040"/>
          </a:xfrm>
          <a:prstGeom prst="rect">
            <a:avLst/>
          </a:prstGeom>
          <a:noFill/>
          <a:ln/>
        </p:spPr>
        <p:txBody>
          <a:bodyPr wrap="square" rtlCol="0" anchor="ctr"/>
          <a:lstStyle/>
          <a:p>
            <a:pPr algn="ctr" indent="0" marL="0">
              <a:buNone/>
            </a:pPr>
            <a:r>
              <a:rPr lang="en-US" sz="950" b="1" dirty="0">
                <a:solidFill>
                  <a:srgbClr val="0F172A"/>
                </a:solidFill>
                <a:latin typeface="Arial" pitchFamily="34" charset="0"/>
                <a:ea typeface="Arial" pitchFamily="34" charset="-122"/>
                <a:cs typeface="Arial" pitchFamily="34" charset="-120"/>
              </a:rPr>
              <a:t>Doctor Workstation &amp; UI/UX</a:t>
            </a:r>
            <a:endParaRPr lang="en-US" sz="950" dirty="0"/>
          </a:p>
        </p:txBody>
      </p:sp>
      <p:sp>
        <p:nvSpPr>
          <p:cNvPr id="37" name="Text 35"/>
          <p:cNvSpPr/>
          <p:nvPr/>
        </p:nvSpPr>
        <p:spPr>
          <a:xfrm>
            <a:off x="5193792" y="2514600"/>
            <a:ext cx="1810512" cy="228600"/>
          </a:xfrm>
          <a:prstGeom prst="rect">
            <a:avLst/>
          </a:prstGeom>
          <a:noFill/>
          <a:ln/>
        </p:spPr>
        <p:txBody>
          <a:bodyPr wrap="square" rtlCol="0" anchor="ctr"/>
          <a:lstStyle/>
          <a:p>
            <a:pPr algn="ctr" indent="0" marL="0">
              <a:buNone/>
            </a:pPr>
            <a:r>
              <a:rPr lang="en-US" sz="850" dirty="0">
                <a:solidFill>
                  <a:srgbClr val="7E22CE"/>
                </a:solidFill>
                <a:latin typeface="Arial" pitchFamily="34" charset="0"/>
                <a:ea typeface="Arial" pitchFamily="34" charset="-122"/>
                <a:cs typeface="Arial" pitchFamily="34" charset="-120"/>
              </a:rPr>
              <a:t>OPD Cockpit &amp; Scanner Hardware</a:t>
            </a:r>
            <a:endParaRPr lang="en-US" sz="850" dirty="0"/>
          </a:p>
        </p:txBody>
      </p:sp>
      <p:sp>
        <p:nvSpPr>
          <p:cNvPr id="38" name="Shape 36"/>
          <p:cNvSpPr/>
          <p:nvPr/>
        </p:nvSpPr>
        <p:spPr>
          <a:xfrm>
            <a:off x="5221224" y="2788920"/>
            <a:ext cx="1755648" cy="0"/>
          </a:xfrm>
          <a:prstGeom prst="line">
            <a:avLst/>
          </a:prstGeom>
          <a:noFill/>
          <a:ln w="12700">
            <a:solidFill>
              <a:srgbClr val="D8B4FE"/>
            </a:solidFill>
            <a:prstDash val="solid"/>
          </a:ln>
        </p:spPr>
      </p:sp>
      <p:sp>
        <p:nvSpPr>
          <p:cNvPr id="39" name="Shape 37"/>
          <p:cNvSpPr/>
          <p:nvPr/>
        </p:nvSpPr>
        <p:spPr>
          <a:xfrm>
            <a:off x="5221224" y="2971800"/>
            <a:ext cx="73152" cy="73152"/>
          </a:xfrm>
          <a:prstGeom prst="ellipse">
            <a:avLst/>
          </a:prstGeom>
          <a:solidFill>
            <a:srgbClr val="7E22CE"/>
          </a:solidFill>
          <a:ln/>
        </p:spPr>
      </p:sp>
      <p:sp>
        <p:nvSpPr>
          <p:cNvPr id="40" name="Text 38"/>
          <p:cNvSpPr/>
          <p:nvPr/>
        </p:nvSpPr>
        <p:spPr>
          <a:xfrm>
            <a:off x="5340096" y="2907792"/>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Built high-density Doctor Consultation Cockpit optimized for fast OPD visits</a:t>
            </a:r>
            <a:endParaRPr lang="en-US" sz="880" dirty="0"/>
          </a:p>
        </p:txBody>
      </p:sp>
      <p:sp>
        <p:nvSpPr>
          <p:cNvPr id="41" name="Shape 39"/>
          <p:cNvSpPr/>
          <p:nvPr/>
        </p:nvSpPr>
        <p:spPr>
          <a:xfrm>
            <a:off x="5221224" y="3776472"/>
            <a:ext cx="73152" cy="73152"/>
          </a:xfrm>
          <a:prstGeom prst="ellipse">
            <a:avLst/>
          </a:prstGeom>
          <a:solidFill>
            <a:srgbClr val="7E22CE"/>
          </a:solidFill>
          <a:ln/>
        </p:spPr>
      </p:sp>
      <p:sp>
        <p:nvSpPr>
          <p:cNvPr id="42" name="Text 40"/>
          <p:cNvSpPr/>
          <p:nvPr/>
        </p:nvSpPr>
        <p:spPr>
          <a:xfrm>
            <a:off x="5340096" y="3712464"/>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Integrated live camera-based HTML5 QR &amp; barcode scanner for sub-second lookup</a:t>
            </a:r>
            <a:endParaRPr lang="en-US" sz="880" dirty="0"/>
          </a:p>
        </p:txBody>
      </p:sp>
      <p:sp>
        <p:nvSpPr>
          <p:cNvPr id="43" name="Shape 41"/>
          <p:cNvSpPr/>
          <p:nvPr/>
        </p:nvSpPr>
        <p:spPr>
          <a:xfrm>
            <a:off x="5221224" y="4581144"/>
            <a:ext cx="73152" cy="73152"/>
          </a:xfrm>
          <a:prstGeom prst="ellipse">
            <a:avLst/>
          </a:prstGeom>
          <a:solidFill>
            <a:srgbClr val="7E22CE"/>
          </a:solidFill>
          <a:ln/>
        </p:spPr>
      </p:sp>
      <p:sp>
        <p:nvSpPr>
          <p:cNvPr id="44" name="Text 42"/>
          <p:cNvSpPr/>
          <p:nvPr/>
        </p:nvSpPr>
        <p:spPr>
          <a:xfrm>
            <a:off x="5340096" y="4517136"/>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Engineered dynamic clinical briefing engine &amp; past encounter history viewer</a:t>
            </a:r>
            <a:endParaRPr lang="en-US" sz="880" dirty="0"/>
          </a:p>
        </p:txBody>
      </p:sp>
      <p:sp>
        <p:nvSpPr>
          <p:cNvPr id="45" name="Shape 43"/>
          <p:cNvSpPr/>
          <p:nvPr/>
        </p:nvSpPr>
        <p:spPr>
          <a:xfrm>
            <a:off x="5221224" y="5385816"/>
            <a:ext cx="73152" cy="73152"/>
          </a:xfrm>
          <a:prstGeom prst="ellipse">
            <a:avLst/>
          </a:prstGeom>
          <a:solidFill>
            <a:srgbClr val="7E22CE"/>
          </a:solidFill>
          <a:ln/>
        </p:spPr>
      </p:sp>
      <p:sp>
        <p:nvSpPr>
          <p:cNvPr id="46" name="Text 44"/>
          <p:cNvSpPr/>
          <p:nvPr/>
        </p:nvSpPr>
        <p:spPr>
          <a:xfrm>
            <a:off x="5340096" y="5321808"/>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Created multi-drug prescription builder with cryptographic sign-off locking</a:t>
            </a:r>
            <a:endParaRPr lang="en-US" sz="880" dirty="0"/>
          </a:p>
        </p:txBody>
      </p:sp>
      <p:sp>
        <p:nvSpPr>
          <p:cNvPr id="47" name="Shape 45"/>
          <p:cNvSpPr/>
          <p:nvPr/>
        </p:nvSpPr>
        <p:spPr>
          <a:xfrm>
            <a:off x="7260336" y="1691640"/>
            <a:ext cx="2029968" cy="4389120"/>
          </a:xfrm>
          <a:prstGeom prst="roundRect">
            <a:avLst/>
          </a:prstGeom>
          <a:solidFill>
            <a:srgbClr val="FFFBEB"/>
          </a:solidFill>
          <a:ln w="19050">
            <a:solidFill>
              <a:srgbClr val="FDE68A"/>
            </a:solidFill>
            <a:prstDash val="solid"/>
          </a:ln>
        </p:spPr>
      </p:sp>
      <p:sp>
        <p:nvSpPr>
          <p:cNvPr id="48" name="Text 46"/>
          <p:cNvSpPr/>
          <p:nvPr/>
        </p:nvSpPr>
        <p:spPr>
          <a:xfrm>
            <a:off x="7370064" y="1874520"/>
            <a:ext cx="1810512" cy="320040"/>
          </a:xfrm>
          <a:prstGeom prst="rect">
            <a:avLst/>
          </a:prstGeom>
          <a:noFill/>
          <a:ln/>
        </p:spPr>
        <p:txBody>
          <a:bodyPr wrap="square" rtlCol="0" anchor="ctr"/>
          <a:lstStyle/>
          <a:p>
            <a:pPr algn="ctr" indent="0" marL="0">
              <a:buNone/>
            </a:pPr>
            <a:r>
              <a:rPr lang="en-US" sz="1300" b="1" dirty="0">
                <a:solidFill>
                  <a:srgbClr val="B45309"/>
                </a:solidFill>
                <a:latin typeface="Arial" pitchFamily="34" charset="0"/>
                <a:ea typeface="Arial" pitchFamily="34" charset="-122"/>
                <a:cs typeface="Arial" pitchFamily="34" charset="-120"/>
              </a:rPr>
              <a:t>Soubhik Sarkar</a:t>
            </a:r>
            <a:endParaRPr lang="en-US" sz="1300" dirty="0"/>
          </a:p>
        </p:txBody>
      </p:sp>
      <p:sp>
        <p:nvSpPr>
          <p:cNvPr id="49" name="Text 47"/>
          <p:cNvSpPr/>
          <p:nvPr/>
        </p:nvSpPr>
        <p:spPr>
          <a:xfrm>
            <a:off x="7370064" y="2194560"/>
            <a:ext cx="1810512" cy="320040"/>
          </a:xfrm>
          <a:prstGeom prst="rect">
            <a:avLst/>
          </a:prstGeom>
          <a:noFill/>
          <a:ln/>
        </p:spPr>
        <p:txBody>
          <a:bodyPr wrap="square" rtlCol="0" anchor="ctr"/>
          <a:lstStyle/>
          <a:p>
            <a:pPr algn="ctr" indent="0" marL="0">
              <a:buNone/>
            </a:pPr>
            <a:r>
              <a:rPr lang="en-US" sz="950" b="1" dirty="0">
                <a:solidFill>
                  <a:srgbClr val="0F172A"/>
                </a:solidFill>
                <a:latin typeface="Arial" pitchFamily="34" charset="0"/>
                <a:ea typeface="Arial" pitchFamily="34" charset="-122"/>
                <a:cs typeface="Arial" pitchFamily="34" charset="-120"/>
              </a:rPr>
              <a:t>AI Coordinator &amp; Operations</a:t>
            </a:r>
            <a:endParaRPr lang="en-US" sz="950" dirty="0"/>
          </a:p>
        </p:txBody>
      </p:sp>
      <p:sp>
        <p:nvSpPr>
          <p:cNvPr id="50" name="Text 48"/>
          <p:cNvSpPr/>
          <p:nvPr/>
        </p:nvSpPr>
        <p:spPr>
          <a:xfrm>
            <a:off x="7370064" y="2514600"/>
            <a:ext cx="1810512" cy="228600"/>
          </a:xfrm>
          <a:prstGeom prst="rect">
            <a:avLst/>
          </a:prstGeom>
          <a:noFill/>
          <a:ln/>
        </p:spPr>
        <p:txBody>
          <a:bodyPr wrap="square" rtlCol="0" anchor="ctr"/>
          <a:lstStyle/>
          <a:p>
            <a:pPr algn="ctr" indent="0" marL="0">
              <a:buNone/>
            </a:pPr>
            <a:r>
              <a:rPr lang="en-US" sz="850" dirty="0">
                <a:solidFill>
                  <a:srgbClr val="B45309"/>
                </a:solidFill>
                <a:latin typeface="Arial" pitchFamily="34" charset="0"/>
                <a:ea typeface="Arial" pitchFamily="34" charset="-122"/>
                <a:cs typeface="Arial" pitchFamily="34" charset="-120"/>
              </a:rPr>
              <a:t>Telemetry &amp; T-1 Continuity</a:t>
            </a:r>
            <a:endParaRPr lang="en-US" sz="850" dirty="0"/>
          </a:p>
        </p:txBody>
      </p:sp>
      <p:sp>
        <p:nvSpPr>
          <p:cNvPr id="51" name="Shape 49"/>
          <p:cNvSpPr/>
          <p:nvPr/>
        </p:nvSpPr>
        <p:spPr>
          <a:xfrm>
            <a:off x="7397496" y="2788920"/>
            <a:ext cx="1755648" cy="0"/>
          </a:xfrm>
          <a:prstGeom prst="line">
            <a:avLst/>
          </a:prstGeom>
          <a:noFill/>
          <a:ln w="12700">
            <a:solidFill>
              <a:srgbClr val="FDE68A"/>
            </a:solidFill>
            <a:prstDash val="solid"/>
          </a:ln>
        </p:spPr>
      </p:sp>
      <p:sp>
        <p:nvSpPr>
          <p:cNvPr id="52" name="Shape 50"/>
          <p:cNvSpPr/>
          <p:nvPr/>
        </p:nvSpPr>
        <p:spPr>
          <a:xfrm>
            <a:off x="7397496" y="2971800"/>
            <a:ext cx="73152" cy="73152"/>
          </a:xfrm>
          <a:prstGeom prst="ellipse">
            <a:avLst/>
          </a:prstGeom>
          <a:solidFill>
            <a:srgbClr val="B45309"/>
          </a:solidFill>
          <a:ln/>
        </p:spPr>
      </p:sp>
      <p:sp>
        <p:nvSpPr>
          <p:cNvPr id="53" name="Text 51"/>
          <p:cNvSpPr/>
          <p:nvPr/>
        </p:nvSpPr>
        <p:spPr>
          <a:xfrm>
            <a:off x="7516368" y="2907792"/>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Built AI Care Coordinator portal interface and clinical guidance dashboards</a:t>
            </a:r>
            <a:endParaRPr lang="en-US" sz="880" dirty="0"/>
          </a:p>
        </p:txBody>
      </p:sp>
      <p:sp>
        <p:nvSpPr>
          <p:cNvPr id="54" name="Shape 52"/>
          <p:cNvSpPr/>
          <p:nvPr/>
        </p:nvSpPr>
        <p:spPr>
          <a:xfrm>
            <a:off x="7397496" y="3776472"/>
            <a:ext cx="73152" cy="73152"/>
          </a:xfrm>
          <a:prstGeom prst="ellipse">
            <a:avLst/>
          </a:prstGeom>
          <a:solidFill>
            <a:srgbClr val="B45309"/>
          </a:solidFill>
          <a:ln/>
        </p:spPr>
      </p:sp>
      <p:sp>
        <p:nvSpPr>
          <p:cNvPr id="55" name="Text 53"/>
          <p:cNvSpPr/>
          <p:nvPr/>
        </p:nvSpPr>
        <p:spPr>
          <a:xfrm>
            <a:off x="7516368" y="3712464"/>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Engineered daily 3-slot dose telemetry and live adherence scoring algorithms</a:t>
            </a:r>
            <a:endParaRPr lang="en-US" sz="880" dirty="0"/>
          </a:p>
        </p:txBody>
      </p:sp>
      <p:sp>
        <p:nvSpPr>
          <p:cNvPr id="56" name="Shape 54"/>
          <p:cNvSpPr/>
          <p:nvPr/>
        </p:nvSpPr>
        <p:spPr>
          <a:xfrm>
            <a:off x="7397496" y="4581144"/>
            <a:ext cx="73152" cy="73152"/>
          </a:xfrm>
          <a:prstGeom prst="ellipse">
            <a:avLst/>
          </a:prstGeom>
          <a:solidFill>
            <a:srgbClr val="B45309"/>
          </a:solidFill>
          <a:ln/>
        </p:spPr>
      </p:sp>
      <p:sp>
        <p:nvSpPr>
          <p:cNvPr id="57" name="Text 55"/>
          <p:cNvSpPr/>
          <p:nvPr/>
        </p:nvSpPr>
        <p:spPr>
          <a:xfrm>
            <a:off x="7516368" y="4517136"/>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Authored proactive T-1 pre-consultation fasting &amp; preparation checklists</a:t>
            </a:r>
            <a:endParaRPr lang="en-US" sz="880" dirty="0"/>
          </a:p>
        </p:txBody>
      </p:sp>
      <p:sp>
        <p:nvSpPr>
          <p:cNvPr id="58" name="Shape 56"/>
          <p:cNvSpPr/>
          <p:nvPr/>
        </p:nvSpPr>
        <p:spPr>
          <a:xfrm>
            <a:off x="7397496" y="5385816"/>
            <a:ext cx="73152" cy="73152"/>
          </a:xfrm>
          <a:prstGeom prst="ellipse">
            <a:avLst/>
          </a:prstGeom>
          <a:solidFill>
            <a:srgbClr val="B45309"/>
          </a:solidFill>
          <a:ln/>
        </p:spPr>
      </p:sp>
      <p:sp>
        <p:nvSpPr>
          <p:cNvPr id="59" name="Text 57"/>
          <p:cNvSpPr/>
          <p:nvPr/>
        </p:nvSpPr>
        <p:spPr>
          <a:xfrm>
            <a:off x="7516368" y="5321808"/>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Implemented bilingual AI Q&amp;A assistant with clinical red-flag emergency triage</a:t>
            </a:r>
            <a:endParaRPr lang="en-US" sz="880" dirty="0"/>
          </a:p>
        </p:txBody>
      </p:sp>
      <p:sp>
        <p:nvSpPr>
          <p:cNvPr id="60" name="Shape 58"/>
          <p:cNvSpPr/>
          <p:nvPr/>
        </p:nvSpPr>
        <p:spPr>
          <a:xfrm>
            <a:off x="9436608" y="1691640"/>
            <a:ext cx="2029968" cy="4389120"/>
          </a:xfrm>
          <a:prstGeom prst="roundRect">
            <a:avLst/>
          </a:prstGeom>
          <a:solidFill>
            <a:srgbClr val="F1F5F9"/>
          </a:solidFill>
          <a:ln w="19050">
            <a:solidFill>
              <a:srgbClr val="CBD5E1"/>
            </a:solidFill>
            <a:prstDash val="solid"/>
          </a:ln>
        </p:spPr>
      </p:sp>
      <p:sp>
        <p:nvSpPr>
          <p:cNvPr id="61" name="Text 59"/>
          <p:cNvSpPr/>
          <p:nvPr/>
        </p:nvSpPr>
        <p:spPr>
          <a:xfrm>
            <a:off x="9546336" y="1874520"/>
            <a:ext cx="1810512" cy="320040"/>
          </a:xfrm>
          <a:prstGeom prst="rect">
            <a:avLst/>
          </a:prstGeom>
          <a:noFill/>
          <a:ln/>
        </p:spPr>
        <p:txBody>
          <a:bodyPr wrap="square" rtlCol="0" anchor="ctr"/>
          <a:lstStyle/>
          <a:p>
            <a:pPr algn="ctr" indent="0" marL="0">
              <a:buNone/>
            </a:pPr>
            <a:r>
              <a:rPr lang="en-US" sz="1300" b="1" dirty="0">
                <a:solidFill>
                  <a:srgbClr val="334155"/>
                </a:solidFill>
                <a:latin typeface="Arial" pitchFamily="34" charset="0"/>
                <a:ea typeface="Arial" pitchFamily="34" charset="-122"/>
                <a:cs typeface="Arial" pitchFamily="34" charset="-120"/>
              </a:rPr>
              <a:t>Vasu Chandra</a:t>
            </a:r>
            <a:endParaRPr lang="en-US" sz="1300" dirty="0"/>
          </a:p>
        </p:txBody>
      </p:sp>
      <p:sp>
        <p:nvSpPr>
          <p:cNvPr id="62" name="Text 60"/>
          <p:cNvSpPr/>
          <p:nvPr/>
        </p:nvSpPr>
        <p:spPr>
          <a:xfrm>
            <a:off x="9546336" y="2194560"/>
            <a:ext cx="1810512" cy="320040"/>
          </a:xfrm>
          <a:prstGeom prst="rect">
            <a:avLst/>
          </a:prstGeom>
          <a:noFill/>
          <a:ln/>
        </p:spPr>
        <p:txBody>
          <a:bodyPr wrap="square" rtlCol="0" anchor="ctr"/>
          <a:lstStyle/>
          <a:p>
            <a:pPr algn="ctr" indent="0" marL="0">
              <a:buNone/>
            </a:pPr>
            <a:r>
              <a:rPr lang="en-US" sz="950" b="1" dirty="0">
                <a:solidFill>
                  <a:srgbClr val="0F172A"/>
                </a:solidFill>
                <a:latin typeface="Arial" pitchFamily="34" charset="0"/>
                <a:ea typeface="Arial" pitchFamily="34" charset="-122"/>
                <a:cs typeface="Arial" pitchFamily="34" charset="-120"/>
              </a:rPr>
              <a:t>Full-Stack Integration &amp; DevOps</a:t>
            </a:r>
            <a:endParaRPr lang="en-US" sz="950" dirty="0"/>
          </a:p>
        </p:txBody>
      </p:sp>
      <p:sp>
        <p:nvSpPr>
          <p:cNvPr id="63" name="Text 61"/>
          <p:cNvSpPr/>
          <p:nvPr/>
        </p:nvSpPr>
        <p:spPr>
          <a:xfrm>
            <a:off x="9546336" y="2514600"/>
            <a:ext cx="1810512" cy="228600"/>
          </a:xfrm>
          <a:prstGeom prst="rect">
            <a:avLst/>
          </a:prstGeom>
          <a:noFill/>
          <a:ln/>
        </p:spPr>
        <p:txBody>
          <a:bodyPr wrap="square" rtlCol="0" anchor="ctr"/>
          <a:lstStyle/>
          <a:p>
            <a:pPr algn="ctr" indent="0" marL="0">
              <a:buNone/>
            </a:pPr>
            <a:r>
              <a:rPr lang="en-US" sz="850" dirty="0">
                <a:solidFill>
                  <a:srgbClr val="334155"/>
                </a:solidFill>
                <a:latin typeface="Arial" pitchFamily="34" charset="0"/>
                <a:ea typeface="Arial" pitchFamily="34" charset="-122"/>
                <a:cs typeface="Arial" pitchFamily="34" charset="-120"/>
              </a:rPr>
              <a:t>Build Pipeline &amp; WebSockets</a:t>
            </a:r>
            <a:endParaRPr lang="en-US" sz="850" dirty="0"/>
          </a:p>
        </p:txBody>
      </p:sp>
      <p:sp>
        <p:nvSpPr>
          <p:cNvPr id="64" name="Shape 62"/>
          <p:cNvSpPr/>
          <p:nvPr/>
        </p:nvSpPr>
        <p:spPr>
          <a:xfrm>
            <a:off x="9573768" y="2788920"/>
            <a:ext cx="1755648" cy="0"/>
          </a:xfrm>
          <a:prstGeom prst="line">
            <a:avLst/>
          </a:prstGeom>
          <a:noFill/>
          <a:ln w="12700">
            <a:solidFill>
              <a:srgbClr val="CBD5E1"/>
            </a:solidFill>
            <a:prstDash val="solid"/>
          </a:ln>
        </p:spPr>
      </p:sp>
      <p:sp>
        <p:nvSpPr>
          <p:cNvPr id="65" name="Shape 63"/>
          <p:cNvSpPr/>
          <p:nvPr/>
        </p:nvSpPr>
        <p:spPr>
          <a:xfrm>
            <a:off x="9573768" y="2971800"/>
            <a:ext cx="73152" cy="73152"/>
          </a:xfrm>
          <a:prstGeom prst="ellipse">
            <a:avLst/>
          </a:prstGeom>
          <a:solidFill>
            <a:srgbClr val="334155"/>
          </a:solidFill>
          <a:ln/>
        </p:spPr>
      </p:sp>
      <p:sp>
        <p:nvSpPr>
          <p:cNvPr id="66" name="Text 64"/>
          <p:cNvSpPr/>
          <p:nvPr/>
        </p:nvSpPr>
        <p:spPr>
          <a:xfrm>
            <a:off x="9692640" y="2907792"/>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Architected root project orchestration, concurrently running server &amp; client</a:t>
            </a:r>
            <a:endParaRPr lang="en-US" sz="880" dirty="0"/>
          </a:p>
        </p:txBody>
      </p:sp>
      <p:sp>
        <p:nvSpPr>
          <p:cNvPr id="67" name="Shape 65"/>
          <p:cNvSpPr/>
          <p:nvPr/>
        </p:nvSpPr>
        <p:spPr>
          <a:xfrm>
            <a:off x="9573768" y="3776472"/>
            <a:ext cx="73152" cy="73152"/>
          </a:xfrm>
          <a:prstGeom prst="ellipse">
            <a:avLst/>
          </a:prstGeom>
          <a:solidFill>
            <a:srgbClr val="334155"/>
          </a:solidFill>
          <a:ln/>
        </p:spPr>
      </p:sp>
      <p:sp>
        <p:nvSpPr>
          <p:cNvPr id="68" name="Text 66"/>
          <p:cNvSpPr/>
          <p:nvPr/>
        </p:nvSpPr>
        <p:spPr>
          <a:xfrm>
            <a:off x="9692640" y="3712464"/>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Integrated Socket.io WebSockets for real-time OPD queue updates across portals</a:t>
            </a:r>
            <a:endParaRPr lang="en-US" sz="880" dirty="0"/>
          </a:p>
        </p:txBody>
      </p:sp>
      <p:sp>
        <p:nvSpPr>
          <p:cNvPr id="69" name="Shape 67"/>
          <p:cNvSpPr/>
          <p:nvPr/>
        </p:nvSpPr>
        <p:spPr>
          <a:xfrm>
            <a:off x="9573768" y="4581144"/>
            <a:ext cx="73152" cy="73152"/>
          </a:xfrm>
          <a:prstGeom prst="ellipse">
            <a:avLst/>
          </a:prstGeom>
          <a:solidFill>
            <a:srgbClr val="334155"/>
          </a:solidFill>
          <a:ln/>
        </p:spPr>
      </p:sp>
      <p:sp>
        <p:nvSpPr>
          <p:cNvPr id="70" name="Text 68"/>
          <p:cNvSpPr/>
          <p:nvPr/>
        </p:nvSpPr>
        <p:spPr>
          <a:xfrm>
            <a:off x="9692640" y="4517136"/>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Managed cross-branch repository merges, dependency stabilization &amp; git workflows</a:t>
            </a:r>
            <a:endParaRPr lang="en-US" sz="880" dirty="0"/>
          </a:p>
        </p:txBody>
      </p:sp>
      <p:sp>
        <p:nvSpPr>
          <p:cNvPr id="71" name="Shape 69"/>
          <p:cNvSpPr/>
          <p:nvPr/>
        </p:nvSpPr>
        <p:spPr>
          <a:xfrm>
            <a:off x="9573768" y="5385816"/>
            <a:ext cx="73152" cy="73152"/>
          </a:xfrm>
          <a:prstGeom prst="ellipse">
            <a:avLst/>
          </a:prstGeom>
          <a:solidFill>
            <a:srgbClr val="334155"/>
          </a:solidFill>
          <a:ln/>
        </p:spPr>
      </p:sp>
      <p:sp>
        <p:nvSpPr>
          <p:cNvPr id="72" name="Text 70"/>
          <p:cNvSpPr/>
          <p:nvPr/>
        </p:nvSpPr>
        <p:spPr>
          <a:xfrm>
            <a:off x="9692640" y="5321808"/>
            <a:ext cx="1664208" cy="731520"/>
          </a:xfrm>
          <a:prstGeom prst="rect">
            <a:avLst/>
          </a:prstGeom>
          <a:noFill/>
          <a:ln/>
        </p:spPr>
        <p:txBody>
          <a:bodyPr wrap="square" rtlCol="0" anchor="ctr"/>
          <a:lstStyle/>
          <a:p>
            <a:pPr indent="0" marL="0">
              <a:lnSpc>
                <a:spcPts val="1100"/>
              </a:lnSpc>
              <a:buNone/>
            </a:pPr>
            <a:r>
              <a:rPr lang="en-US" sz="880" dirty="0">
                <a:solidFill>
                  <a:srgbClr val="475569"/>
                </a:solidFill>
                <a:latin typeface="Arial" pitchFamily="34" charset="0"/>
                <a:ea typeface="Arial" pitchFamily="34" charset="-122"/>
                <a:cs typeface="Arial" pitchFamily="34" charset="-120"/>
              </a:rPr>
              <a:t>Configured Vite production build pipeline, automated testing &amp; server hardening</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TECHNOLOGY &amp; ENGINEERING</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Full-Stack Technology Stack &amp; System Architecture</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A hardened, scalable MERN-plus architecture optimized for real-time clinical synchronization</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5239512" cy="2103120"/>
          </a:xfrm>
          <a:prstGeom prst="roundRect">
            <a:avLst/>
          </a:prstGeom>
          <a:solidFill>
            <a:srgbClr val="EFF6FF"/>
          </a:solidFill>
          <a:ln w="19050">
            <a:solidFill>
              <a:srgbClr val="BFDBFE"/>
            </a:solidFill>
            <a:prstDash val="solid"/>
          </a:ln>
        </p:spPr>
      </p:sp>
      <p:sp>
        <p:nvSpPr>
          <p:cNvPr id="9" name="Text 7"/>
          <p:cNvSpPr/>
          <p:nvPr/>
        </p:nvSpPr>
        <p:spPr>
          <a:xfrm>
            <a:off x="1005840" y="1874520"/>
            <a:ext cx="4690872" cy="27432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Frontend Client Layer</a:t>
            </a:r>
            <a:endParaRPr lang="en-US" sz="1300" dirty="0"/>
          </a:p>
        </p:txBody>
      </p:sp>
      <p:sp>
        <p:nvSpPr>
          <p:cNvPr id="10" name="Text 8"/>
          <p:cNvSpPr/>
          <p:nvPr/>
        </p:nvSpPr>
        <p:spPr>
          <a:xfrm>
            <a:off x="1005840" y="2148840"/>
            <a:ext cx="4690872" cy="228600"/>
          </a:xfrm>
          <a:prstGeom prst="rect">
            <a:avLst/>
          </a:prstGeom>
          <a:noFill/>
          <a:ln/>
        </p:spPr>
        <p:txBody>
          <a:bodyPr wrap="square" rtlCol="0" anchor="ctr"/>
          <a:lstStyle/>
          <a:p>
            <a:pPr indent="0" marL="0">
              <a:buNone/>
            </a:pPr>
            <a:r>
              <a:rPr lang="en-US" sz="950" b="1" dirty="0">
                <a:solidFill>
                  <a:srgbClr val="2563EB"/>
                </a:solidFill>
                <a:latin typeface="Arial" pitchFamily="34" charset="0"/>
                <a:ea typeface="Arial" pitchFamily="34" charset="-122"/>
                <a:cs typeface="Arial" pitchFamily="34" charset="-120"/>
              </a:rPr>
              <a:t>React 18 · Vite · Tailwind/CSS Tokens</a:t>
            </a:r>
            <a:endParaRPr lang="en-US" sz="950" dirty="0"/>
          </a:p>
        </p:txBody>
      </p:sp>
      <p:sp>
        <p:nvSpPr>
          <p:cNvPr id="11" name="Shape 9"/>
          <p:cNvSpPr/>
          <p:nvPr/>
        </p:nvSpPr>
        <p:spPr>
          <a:xfrm>
            <a:off x="1005840" y="2423160"/>
            <a:ext cx="4690872" cy="0"/>
          </a:xfrm>
          <a:prstGeom prst="line">
            <a:avLst/>
          </a:prstGeom>
          <a:noFill/>
          <a:ln w="12700">
            <a:solidFill>
              <a:srgbClr val="BFDBFE"/>
            </a:solidFill>
            <a:prstDash val="solid"/>
          </a:ln>
        </p:spPr>
      </p:sp>
      <p:sp>
        <p:nvSpPr>
          <p:cNvPr id="12" name="Shape 10"/>
          <p:cNvSpPr/>
          <p:nvPr/>
        </p:nvSpPr>
        <p:spPr>
          <a:xfrm>
            <a:off x="1005840" y="2587752"/>
            <a:ext cx="73152" cy="73152"/>
          </a:xfrm>
          <a:prstGeom prst="ellipse">
            <a:avLst/>
          </a:prstGeom>
          <a:solidFill>
            <a:srgbClr val="2563EB"/>
          </a:solidFill>
          <a:ln/>
        </p:spPr>
      </p:sp>
      <p:sp>
        <p:nvSpPr>
          <p:cNvPr id="13" name="Text 11"/>
          <p:cNvSpPr/>
          <p:nvPr/>
        </p:nvSpPr>
        <p:spPr>
          <a:xfrm>
            <a:off x="1143000" y="2532888"/>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Modular Single Page Application (SPA) with React Router v6</a:t>
            </a:r>
            <a:endParaRPr lang="en-US" sz="900" dirty="0"/>
          </a:p>
        </p:txBody>
      </p:sp>
      <p:sp>
        <p:nvSpPr>
          <p:cNvPr id="14" name="Shape 12"/>
          <p:cNvSpPr/>
          <p:nvPr/>
        </p:nvSpPr>
        <p:spPr>
          <a:xfrm>
            <a:off x="1005840" y="2935224"/>
            <a:ext cx="73152" cy="73152"/>
          </a:xfrm>
          <a:prstGeom prst="ellipse">
            <a:avLst/>
          </a:prstGeom>
          <a:solidFill>
            <a:srgbClr val="2563EB"/>
          </a:solidFill>
          <a:ln/>
        </p:spPr>
      </p:sp>
      <p:sp>
        <p:nvSpPr>
          <p:cNvPr id="15" name="Text 13"/>
          <p:cNvSpPr/>
          <p:nvPr/>
        </p:nvSpPr>
        <p:spPr>
          <a:xfrm>
            <a:off x="1143000" y="2880360"/>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HTML5 Web Speech API for voice-assisted multilingual symptom logging</a:t>
            </a:r>
            <a:endParaRPr lang="en-US" sz="900" dirty="0"/>
          </a:p>
        </p:txBody>
      </p:sp>
      <p:sp>
        <p:nvSpPr>
          <p:cNvPr id="16" name="Shape 14"/>
          <p:cNvSpPr/>
          <p:nvPr/>
        </p:nvSpPr>
        <p:spPr>
          <a:xfrm>
            <a:off x="1005840" y="3282696"/>
            <a:ext cx="73152" cy="73152"/>
          </a:xfrm>
          <a:prstGeom prst="ellipse">
            <a:avLst/>
          </a:prstGeom>
          <a:solidFill>
            <a:srgbClr val="2563EB"/>
          </a:solidFill>
          <a:ln/>
        </p:spPr>
      </p:sp>
      <p:sp>
        <p:nvSpPr>
          <p:cNvPr id="17" name="Text 15"/>
          <p:cNvSpPr/>
          <p:nvPr/>
        </p:nvSpPr>
        <p:spPr>
          <a:xfrm>
            <a:off x="1143000" y="3227832"/>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Live camera QR barcode scanner powered by html5-qrcode</a:t>
            </a:r>
            <a:endParaRPr lang="en-US" sz="900" dirty="0"/>
          </a:p>
        </p:txBody>
      </p:sp>
      <p:sp>
        <p:nvSpPr>
          <p:cNvPr id="18" name="Shape 16"/>
          <p:cNvSpPr/>
          <p:nvPr/>
        </p:nvSpPr>
        <p:spPr>
          <a:xfrm>
            <a:off x="1005840" y="3630168"/>
            <a:ext cx="73152" cy="73152"/>
          </a:xfrm>
          <a:prstGeom prst="ellipse">
            <a:avLst/>
          </a:prstGeom>
          <a:solidFill>
            <a:srgbClr val="2563EB"/>
          </a:solidFill>
          <a:ln/>
        </p:spPr>
      </p:sp>
      <p:sp>
        <p:nvSpPr>
          <p:cNvPr id="19" name="Text 17"/>
          <p:cNvSpPr/>
          <p:nvPr/>
        </p:nvSpPr>
        <p:spPr>
          <a:xfrm>
            <a:off x="1143000" y="3575304"/>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Responsive design tokens supporting mobile and desktop displays</a:t>
            </a:r>
            <a:endParaRPr lang="en-US" sz="900" dirty="0"/>
          </a:p>
        </p:txBody>
      </p:sp>
      <p:sp>
        <p:nvSpPr>
          <p:cNvPr id="20" name="Shape 18"/>
          <p:cNvSpPr/>
          <p:nvPr/>
        </p:nvSpPr>
        <p:spPr>
          <a:xfrm>
            <a:off x="6217920" y="1691640"/>
            <a:ext cx="5239512" cy="2103120"/>
          </a:xfrm>
          <a:prstGeom prst="roundRect">
            <a:avLst/>
          </a:prstGeom>
          <a:solidFill>
            <a:srgbClr val="F0FDF4"/>
          </a:solidFill>
          <a:ln w="19050">
            <a:solidFill>
              <a:srgbClr val="BBF7D0"/>
            </a:solidFill>
            <a:prstDash val="solid"/>
          </a:ln>
        </p:spPr>
      </p:sp>
      <p:sp>
        <p:nvSpPr>
          <p:cNvPr id="21" name="Text 19"/>
          <p:cNvSpPr/>
          <p:nvPr/>
        </p:nvSpPr>
        <p:spPr>
          <a:xfrm>
            <a:off x="6492240" y="1874520"/>
            <a:ext cx="4690872" cy="27432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Backend Microservices Layer</a:t>
            </a:r>
            <a:endParaRPr lang="en-US" sz="1300" dirty="0"/>
          </a:p>
        </p:txBody>
      </p:sp>
      <p:sp>
        <p:nvSpPr>
          <p:cNvPr id="22" name="Text 20"/>
          <p:cNvSpPr/>
          <p:nvPr/>
        </p:nvSpPr>
        <p:spPr>
          <a:xfrm>
            <a:off x="6492240" y="2148840"/>
            <a:ext cx="4690872" cy="228600"/>
          </a:xfrm>
          <a:prstGeom prst="rect">
            <a:avLst/>
          </a:prstGeom>
          <a:noFill/>
          <a:ln/>
        </p:spPr>
        <p:txBody>
          <a:bodyPr wrap="square" rtlCol="0" anchor="ctr"/>
          <a:lstStyle/>
          <a:p>
            <a:pPr indent="0" marL="0">
              <a:buNone/>
            </a:pPr>
            <a:r>
              <a:rPr lang="en-US" sz="950" b="1" dirty="0">
                <a:solidFill>
                  <a:srgbClr val="2563EB"/>
                </a:solidFill>
                <a:latin typeface="Arial" pitchFamily="34" charset="0"/>
                <a:ea typeface="Arial" pitchFamily="34" charset="-122"/>
                <a:cs typeface="Arial" pitchFamily="34" charset="-120"/>
              </a:rPr>
              <a:t>Node.js · Express.js · RESTful APIs</a:t>
            </a:r>
            <a:endParaRPr lang="en-US" sz="950" dirty="0"/>
          </a:p>
        </p:txBody>
      </p:sp>
      <p:sp>
        <p:nvSpPr>
          <p:cNvPr id="23" name="Shape 21"/>
          <p:cNvSpPr/>
          <p:nvPr/>
        </p:nvSpPr>
        <p:spPr>
          <a:xfrm>
            <a:off x="6492240" y="2423160"/>
            <a:ext cx="4690872" cy="0"/>
          </a:xfrm>
          <a:prstGeom prst="line">
            <a:avLst/>
          </a:prstGeom>
          <a:noFill/>
          <a:ln w="12700">
            <a:solidFill>
              <a:srgbClr val="BBF7D0"/>
            </a:solidFill>
            <a:prstDash val="solid"/>
          </a:ln>
        </p:spPr>
      </p:sp>
      <p:sp>
        <p:nvSpPr>
          <p:cNvPr id="24" name="Shape 22"/>
          <p:cNvSpPr/>
          <p:nvPr/>
        </p:nvSpPr>
        <p:spPr>
          <a:xfrm>
            <a:off x="6492240" y="2587752"/>
            <a:ext cx="73152" cy="73152"/>
          </a:xfrm>
          <a:prstGeom prst="ellipse">
            <a:avLst/>
          </a:prstGeom>
          <a:solidFill>
            <a:srgbClr val="2563EB"/>
          </a:solidFill>
          <a:ln/>
        </p:spPr>
      </p:sp>
      <p:sp>
        <p:nvSpPr>
          <p:cNvPr id="25" name="Text 23"/>
          <p:cNvSpPr/>
          <p:nvPr/>
        </p:nvSpPr>
        <p:spPr>
          <a:xfrm>
            <a:off x="6629400" y="2532888"/>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Decoupled route controllers (/auth, /patient, /doctor, /ai-coordinator, /alerts)</a:t>
            </a:r>
            <a:endParaRPr lang="en-US" sz="900" dirty="0"/>
          </a:p>
        </p:txBody>
      </p:sp>
      <p:sp>
        <p:nvSpPr>
          <p:cNvPr id="26" name="Shape 24"/>
          <p:cNvSpPr/>
          <p:nvPr/>
        </p:nvSpPr>
        <p:spPr>
          <a:xfrm>
            <a:off x="6492240" y="2935224"/>
            <a:ext cx="73152" cy="73152"/>
          </a:xfrm>
          <a:prstGeom prst="ellipse">
            <a:avLst/>
          </a:prstGeom>
          <a:solidFill>
            <a:srgbClr val="2563EB"/>
          </a:solidFill>
          <a:ln/>
        </p:spPr>
      </p:sp>
      <p:sp>
        <p:nvSpPr>
          <p:cNvPr id="27" name="Text 25"/>
          <p:cNvSpPr/>
          <p:nvPr/>
        </p:nvSpPr>
        <p:spPr>
          <a:xfrm>
            <a:off x="6629400" y="2880360"/>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Role-Based Access Control (RBAC) middleware verifying JWT tokens</a:t>
            </a:r>
            <a:endParaRPr lang="en-US" sz="900" dirty="0"/>
          </a:p>
        </p:txBody>
      </p:sp>
      <p:sp>
        <p:nvSpPr>
          <p:cNvPr id="28" name="Shape 26"/>
          <p:cNvSpPr/>
          <p:nvPr/>
        </p:nvSpPr>
        <p:spPr>
          <a:xfrm>
            <a:off x="6492240" y="3282696"/>
            <a:ext cx="73152" cy="73152"/>
          </a:xfrm>
          <a:prstGeom prst="ellipse">
            <a:avLst/>
          </a:prstGeom>
          <a:solidFill>
            <a:srgbClr val="2563EB"/>
          </a:solidFill>
          <a:ln/>
        </p:spPr>
      </p:sp>
      <p:sp>
        <p:nvSpPr>
          <p:cNvPr id="29" name="Text 27"/>
          <p:cNvSpPr/>
          <p:nvPr/>
        </p:nvSpPr>
        <p:spPr>
          <a:xfrm>
            <a:off x="6629400" y="3227832"/>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Cryptographic hashing with bcrypt for secure clinician registration</a:t>
            </a:r>
            <a:endParaRPr lang="en-US" sz="900" dirty="0"/>
          </a:p>
        </p:txBody>
      </p:sp>
      <p:sp>
        <p:nvSpPr>
          <p:cNvPr id="30" name="Shape 28"/>
          <p:cNvSpPr/>
          <p:nvPr/>
        </p:nvSpPr>
        <p:spPr>
          <a:xfrm>
            <a:off x="6492240" y="3630168"/>
            <a:ext cx="73152" cy="73152"/>
          </a:xfrm>
          <a:prstGeom prst="ellipse">
            <a:avLst/>
          </a:prstGeom>
          <a:solidFill>
            <a:srgbClr val="2563EB"/>
          </a:solidFill>
          <a:ln/>
        </p:spPr>
      </p:sp>
      <p:sp>
        <p:nvSpPr>
          <p:cNvPr id="31" name="Text 29"/>
          <p:cNvSpPr/>
          <p:nvPr/>
        </p:nvSpPr>
        <p:spPr>
          <a:xfrm>
            <a:off x="6629400" y="3575304"/>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Opaque QR token digestion preventing plain-text PII transmission</a:t>
            </a:r>
            <a:endParaRPr lang="en-US" sz="900" dirty="0"/>
          </a:p>
        </p:txBody>
      </p:sp>
      <p:sp>
        <p:nvSpPr>
          <p:cNvPr id="32" name="Shape 30"/>
          <p:cNvSpPr/>
          <p:nvPr/>
        </p:nvSpPr>
        <p:spPr>
          <a:xfrm>
            <a:off x="731520" y="3931920"/>
            <a:ext cx="5239512" cy="2103120"/>
          </a:xfrm>
          <a:prstGeom prst="roundRect">
            <a:avLst/>
          </a:prstGeom>
          <a:solidFill>
            <a:srgbClr val="FFFBEB"/>
          </a:solidFill>
          <a:ln w="19050">
            <a:solidFill>
              <a:srgbClr val="FDE68A"/>
            </a:solidFill>
            <a:prstDash val="solid"/>
          </a:ln>
        </p:spPr>
      </p:sp>
      <p:sp>
        <p:nvSpPr>
          <p:cNvPr id="33" name="Text 31"/>
          <p:cNvSpPr/>
          <p:nvPr/>
        </p:nvSpPr>
        <p:spPr>
          <a:xfrm>
            <a:off x="1005840" y="4114800"/>
            <a:ext cx="4690872" cy="27432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Real-Time &amp; Automation Daemons</a:t>
            </a:r>
            <a:endParaRPr lang="en-US" sz="1300" dirty="0"/>
          </a:p>
        </p:txBody>
      </p:sp>
      <p:sp>
        <p:nvSpPr>
          <p:cNvPr id="34" name="Text 32"/>
          <p:cNvSpPr/>
          <p:nvPr/>
        </p:nvSpPr>
        <p:spPr>
          <a:xfrm>
            <a:off x="1005840" y="4389120"/>
            <a:ext cx="4690872" cy="228600"/>
          </a:xfrm>
          <a:prstGeom prst="rect">
            <a:avLst/>
          </a:prstGeom>
          <a:noFill/>
          <a:ln/>
        </p:spPr>
        <p:txBody>
          <a:bodyPr wrap="square" rtlCol="0" anchor="ctr"/>
          <a:lstStyle/>
          <a:p>
            <a:pPr indent="0" marL="0">
              <a:buNone/>
            </a:pPr>
            <a:r>
              <a:rPr lang="en-US" sz="950" b="1" dirty="0">
                <a:solidFill>
                  <a:srgbClr val="2563EB"/>
                </a:solidFill>
                <a:latin typeface="Arial" pitchFamily="34" charset="0"/>
                <a:ea typeface="Arial" pitchFamily="34" charset="-122"/>
                <a:cs typeface="Arial" pitchFamily="34" charset="-120"/>
              </a:rPr>
              <a:t>Socket.io · Node-Cron Scheduled Daemons</a:t>
            </a:r>
            <a:endParaRPr lang="en-US" sz="950" dirty="0"/>
          </a:p>
        </p:txBody>
      </p:sp>
      <p:sp>
        <p:nvSpPr>
          <p:cNvPr id="35" name="Shape 33"/>
          <p:cNvSpPr/>
          <p:nvPr/>
        </p:nvSpPr>
        <p:spPr>
          <a:xfrm>
            <a:off x="1005840" y="4663440"/>
            <a:ext cx="4690872" cy="0"/>
          </a:xfrm>
          <a:prstGeom prst="line">
            <a:avLst/>
          </a:prstGeom>
          <a:noFill/>
          <a:ln w="12700">
            <a:solidFill>
              <a:srgbClr val="FDE68A"/>
            </a:solidFill>
            <a:prstDash val="solid"/>
          </a:ln>
        </p:spPr>
      </p:sp>
      <p:sp>
        <p:nvSpPr>
          <p:cNvPr id="36" name="Shape 34"/>
          <p:cNvSpPr/>
          <p:nvPr/>
        </p:nvSpPr>
        <p:spPr>
          <a:xfrm>
            <a:off x="1005840" y="4828032"/>
            <a:ext cx="73152" cy="73152"/>
          </a:xfrm>
          <a:prstGeom prst="ellipse">
            <a:avLst/>
          </a:prstGeom>
          <a:solidFill>
            <a:srgbClr val="2563EB"/>
          </a:solidFill>
          <a:ln/>
        </p:spPr>
      </p:sp>
      <p:sp>
        <p:nvSpPr>
          <p:cNvPr id="37" name="Text 35"/>
          <p:cNvSpPr/>
          <p:nvPr/>
        </p:nvSpPr>
        <p:spPr>
          <a:xfrm>
            <a:off x="1143000" y="4773168"/>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Bidirectional WebSockets via Socket.io for instantaneous OPD queue broadcasts</a:t>
            </a:r>
            <a:endParaRPr lang="en-US" sz="900" dirty="0"/>
          </a:p>
        </p:txBody>
      </p:sp>
      <p:sp>
        <p:nvSpPr>
          <p:cNvPr id="38" name="Shape 36"/>
          <p:cNvSpPr/>
          <p:nvPr/>
        </p:nvSpPr>
        <p:spPr>
          <a:xfrm>
            <a:off x="1005840" y="5175504"/>
            <a:ext cx="73152" cy="73152"/>
          </a:xfrm>
          <a:prstGeom prst="ellipse">
            <a:avLst/>
          </a:prstGeom>
          <a:solidFill>
            <a:srgbClr val="2563EB"/>
          </a:solidFill>
          <a:ln/>
        </p:spPr>
      </p:sp>
      <p:sp>
        <p:nvSpPr>
          <p:cNvPr id="39" name="Text 37"/>
          <p:cNvSpPr/>
          <p:nvPr/>
        </p:nvSpPr>
        <p:spPr>
          <a:xfrm>
            <a:off x="1143000" y="5120640"/>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Doctor status updates instantly reflect on patient waitlist monitors</a:t>
            </a:r>
            <a:endParaRPr lang="en-US" sz="900" dirty="0"/>
          </a:p>
        </p:txBody>
      </p:sp>
      <p:sp>
        <p:nvSpPr>
          <p:cNvPr id="40" name="Shape 38"/>
          <p:cNvSpPr/>
          <p:nvPr/>
        </p:nvSpPr>
        <p:spPr>
          <a:xfrm>
            <a:off x="1005840" y="5522976"/>
            <a:ext cx="73152" cy="73152"/>
          </a:xfrm>
          <a:prstGeom prst="ellipse">
            <a:avLst/>
          </a:prstGeom>
          <a:solidFill>
            <a:srgbClr val="2563EB"/>
          </a:solidFill>
          <a:ln/>
        </p:spPr>
      </p:sp>
      <p:sp>
        <p:nvSpPr>
          <p:cNvPr id="41" name="Text 39"/>
          <p:cNvSpPr/>
          <p:nvPr/>
        </p:nvSpPr>
        <p:spPr>
          <a:xfrm>
            <a:off x="1143000" y="5468112"/>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Hourly care continuity daemon (node-cron) scanning for overdue follow-ups</a:t>
            </a:r>
            <a:endParaRPr lang="en-US" sz="900" dirty="0"/>
          </a:p>
        </p:txBody>
      </p:sp>
      <p:sp>
        <p:nvSpPr>
          <p:cNvPr id="42" name="Shape 40"/>
          <p:cNvSpPr/>
          <p:nvPr/>
        </p:nvSpPr>
        <p:spPr>
          <a:xfrm>
            <a:off x="1005840" y="5870448"/>
            <a:ext cx="73152" cy="73152"/>
          </a:xfrm>
          <a:prstGeom prst="ellipse">
            <a:avLst/>
          </a:prstGeom>
          <a:solidFill>
            <a:srgbClr val="2563EB"/>
          </a:solidFill>
          <a:ln/>
        </p:spPr>
      </p:sp>
      <p:sp>
        <p:nvSpPr>
          <p:cNvPr id="43" name="Text 41"/>
          <p:cNvSpPr/>
          <p:nvPr/>
        </p:nvSpPr>
        <p:spPr>
          <a:xfrm>
            <a:off x="1143000" y="5815584"/>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Automated escalation task generation dispatched to ASHA health workers</a:t>
            </a:r>
            <a:endParaRPr lang="en-US" sz="900" dirty="0"/>
          </a:p>
        </p:txBody>
      </p:sp>
      <p:sp>
        <p:nvSpPr>
          <p:cNvPr id="44" name="Shape 42"/>
          <p:cNvSpPr/>
          <p:nvPr/>
        </p:nvSpPr>
        <p:spPr>
          <a:xfrm>
            <a:off x="6217920" y="3931920"/>
            <a:ext cx="5239512" cy="2103120"/>
          </a:xfrm>
          <a:prstGeom prst="roundRect">
            <a:avLst/>
          </a:prstGeom>
          <a:solidFill>
            <a:srgbClr val="FAF5FF"/>
          </a:solidFill>
          <a:ln w="19050">
            <a:solidFill>
              <a:srgbClr val="E9D5FF"/>
            </a:solidFill>
            <a:prstDash val="solid"/>
          </a:ln>
        </p:spPr>
      </p:sp>
      <p:sp>
        <p:nvSpPr>
          <p:cNvPr id="45" name="Text 43"/>
          <p:cNvSpPr/>
          <p:nvPr/>
        </p:nvSpPr>
        <p:spPr>
          <a:xfrm>
            <a:off x="6492240" y="4114800"/>
            <a:ext cx="4690872" cy="27432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Database &amp; Data Integrity</a:t>
            </a:r>
            <a:endParaRPr lang="en-US" sz="1300" dirty="0"/>
          </a:p>
        </p:txBody>
      </p:sp>
      <p:sp>
        <p:nvSpPr>
          <p:cNvPr id="46" name="Text 44"/>
          <p:cNvSpPr/>
          <p:nvPr/>
        </p:nvSpPr>
        <p:spPr>
          <a:xfrm>
            <a:off x="6492240" y="4389120"/>
            <a:ext cx="4690872" cy="228600"/>
          </a:xfrm>
          <a:prstGeom prst="rect">
            <a:avLst/>
          </a:prstGeom>
          <a:noFill/>
          <a:ln/>
        </p:spPr>
        <p:txBody>
          <a:bodyPr wrap="square" rtlCol="0" anchor="ctr"/>
          <a:lstStyle/>
          <a:p>
            <a:pPr indent="0" marL="0">
              <a:buNone/>
            </a:pPr>
            <a:r>
              <a:rPr lang="en-US" sz="950" b="1" dirty="0">
                <a:solidFill>
                  <a:srgbClr val="2563EB"/>
                </a:solidFill>
                <a:latin typeface="Arial" pitchFamily="34" charset="0"/>
                <a:ea typeface="Arial" pitchFamily="34" charset="-122"/>
                <a:cs typeface="Arial" pitchFamily="34" charset="-120"/>
              </a:rPr>
              <a:t>MongoDB · Mongoose ORM</a:t>
            </a:r>
            <a:endParaRPr lang="en-US" sz="950" dirty="0"/>
          </a:p>
        </p:txBody>
      </p:sp>
      <p:sp>
        <p:nvSpPr>
          <p:cNvPr id="47" name="Shape 45"/>
          <p:cNvSpPr/>
          <p:nvPr/>
        </p:nvSpPr>
        <p:spPr>
          <a:xfrm>
            <a:off x="6492240" y="4663440"/>
            <a:ext cx="4690872" cy="0"/>
          </a:xfrm>
          <a:prstGeom prst="line">
            <a:avLst/>
          </a:prstGeom>
          <a:noFill/>
          <a:ln w="12700">
            <a:solidFill>
              <a:srgbClr val="E9D5FF"/>
            </a:solidFill>
            <a:prstDash val="solid"/>
          </a:ln>
        </p:spPr>
      </p:sp>
      <p:sp>
        <p:nvSpPr>
          <p:cNvPr id="48" name="Shape 46"/>
          <p:cNvSpPr/>
          <p:nvPr/>
        </p:nvSpPr>
        <p:spPr>
          <a:xfrm>
            <a:off x="6492240" y="4828032"/>
            <a:ext cx="73152" cy="73152"/>
          </a:xfrm>
          <a:prstGeom prst="ellipse">
            <a:avLst/>
          </a:prstGeom>
          <a:solidFill>
            <a:srgbClr val="2563EB"/>
          </a:solidFill>
          <a:ln/>
        </p:spPr>
      </p:sp>
      <p:sp>
        <p:nvSpPr>
          <p:cNvPr id="49" name="Text 47"/>
          <p:cNvSpPr/>
          <p:nvPr/>
        </p:nvSpPr>
        <p:spPr>
          <a:xfrm>
            <a:off x="6629400" y="4773168"/>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Normalized relational schemas: User, Encounter, Prescription, FollowUp, Vitals</a:t>
            </a:r>
            <a:endParaRPr lang="en-US" sz="900" dirty="0"/>
          </a:p>
        </p:txBody>
      </p:sp>
      <p:sp>
        <p:nvSpPr>
          <p:cNvPr id="50" name="Shape 48"/>
          <p:cNvSpPr/>
          <p:nvPr/>
        </p:nvSpPr>
        <p:spPr>
          <a:xfrm>
            <a:off x="6492240" y="5175504"/>
            <a:ext cx="73152" cy="73152"/>
          </a:xfrm>
          <a:prstGeom prst="ellipse">
            <a:avLst/>
          </a:prstGeom>
          <a:solidFill>
            <a:srgbClr val="2563EB"/>
          </a:solidFill>
          <a:ln/>
        </p:spPr>
      </p:sp>
      <p:sp>
        <p:nvSpPr>
          <p:cNvPr id="51" name="Text 49"/>
          <p:cNvSpPr/>
          <p:nvPr/>
        </p:nvSpPr>
        <p:spPr>
          <a:xfrm>
            <a:off x="6629400" y="5120640"/>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Fast indexed queries for token lookups and chronological patient briefings</a:t>
            </a:r>
            <a:endParaRPr lang="en-US" sz="900" dirty="0"/>
          </a:p>
        </p:txBody>
      </p:sp>
      <p:sp>
        <p:nvSpPr>
          <p:cNvPr id="52" name="Shape 50"/>
          <p:cNvSpPr/>
          <p:nvPr/>
        </p:nvSpPr>
        <p:spPr>
          <a:xfrm>
            <a:off x="6492240" y="5522976"/>
            <a:ext cx="73152" cy="73152"/>
          </a:xfrm>
          <a:prstGeom prst="ellipse">
            <a:avLst/>
          </a:prstGeom>
          <a:solidFill>
            <a:srgbClr val="2563EB"/>
          </a:solidFill>
          <a:ln/>
        </p:spPr>
      </p:sp>
      <p:sp>
        <p:nvSpPr>
          <p:cNvPr id="53" name="Text 51"/>
          <p:cNvSpPr/>
          <p:nvPr/>
        </p:nvSpPr>
        <p:spPr>
          <a:xfrm>
            <a:off x="6629400" y="5468112"/>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Seed automation populating standardized Doctor 1 and Patient 1 evaluator profiles</a:t>
            </a:r>
            <a:endParaRPr lang="en-US" sz="900" dirty="0"/>
          </a:p>
        </p:txBody>
      </p:sp>
      <p:sp>
        <p:nvSpPr>
          <p:cNvPr id="54" name="Shape 52"/>
          <p:cNvSpPr/>
          <p:nvPr/>
        </p:nvSpPr>
        <p:spPr>
          <a:xfrm>
            <a:off x="6492240" y="5870448"/>
            <a:ext cx="73152" cy="73152"/>
          </a:xfrm>
          <a:prstGeom prst="ellipse">
            <a:avLst/>
          </a:prstGeom>
          <a:solidFill>
            <a:srgbClr val="2563EB"/>
          </a:solidFill>
          <a:ln/>
        </p:spPr>
      </p:sp>
      <p:sp>
        <p:nvSpPr>
          <p:cNvPr id="55" name="Text 53"/>
          <p:cNvSpPr/>
          <p:nvPr/>
        </p:nvSpPr>
        <p:spPr>
          <a:xfrm>
            <a:off x="6629400" y="5815584"/>
            <a:ext cx="4526280" cy="320040"/>
          </a:xfrm>
          <a:prstGeom prst="rect">
            <a:avLst/>
          </a:prstGeom>
          <a:noFill/>
          <a:ln/>
        </p:spPr>
        <p:txBody>
          <a:bodyPr wrap="square" rtlCol="0" anchor="ctr"/>
          <a:lstStyle/>
          <a:p>
            <a:pPr indent="0" marL="0">
              <a:lnSpc>
                <a:spcPts val="1100"/>
              </a:lnSpc>
              <a:buNone/>
            </a:pPr>
            <a:r>
              <a:rPr lang="en-US" sz="900" dirty="0">
                <a:solidFill>
                  <a:srgbClr val="475569"/>
                </a:solidFill>
                <a:latin typeface="Arial" pitchFamily="34" charset="0"/>
                <a:ea typeface="Arial" pitchFamily="34" charset="-122"/>
                <a:cs typeface="Arial" pitchFamily="34" charset="-120"/>
              </a:rPr>
              <a:t>Exportable JSON database telemetry for auditing and ABDM interoperability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LIVE VERIFICATION</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Live MVP Demonstration &amp; Evaluator Walkthrough</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Step-by-step verification pathways to test the live functional deployment right now</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5029200" cy="4389120"/>
          </a:xfrm>
          <a:prstGeom prst="roundRect">
            <a:avLst/>
          </a:prstGeom>
          <a:solidFill>
            <a:srgbClr val="FFFFFF"/>
          </a:solidFill>
          <a:ln w="19050">
            <a:solidFill>
              <a:srgbClr val="E2E8F0"/>
            </a:solidFill>
            <a:prstDash val="solid"/>
          </a:ln>
        </p:spPr>
      </p:sp>
      <p:sp>
        <p:nvSpPr>
          <p:cNvPr id="9" name="Text 7"/>
          <p:cNvSpPr/>
          <p:nvPr/>
        </p:nvSpPr>
        <p:spPr>
          <a:xfrm>
            <a:off x="1005840" y="1920240"/>
            <a:ext cx="4480560" cy="32004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Pre-Configured Evaluator Profiles</a:t>
            </a:r>
            <a:endParaRPr lang="en-US" sz="1500" dirty="0"/>
          </a:p>
        </p:txBody>
      </p:sp>
      <p:sp>
        <p:nvSpPr>
          <p:cNvPr id="10" name="Shape 8"/>
          <p:cNvSpPr/>
          <p:nvPr/>
        </p:nvSpPr>
        <p:spPr>
          <a:xfrm>
            <a:off x="1005840" y="2331720"/>
            <a:ext cx="4480560" cy="1554480"/>
          </a:xfrm>
          <a:prstGeom prst="roundRect">
            <a:avLst/>
          </a:prstGeom>
          <a:solidFill>
            <a:srgbClr val="EFF6FF"/>
          </a:solidFill>
          <a:ln w="12700">
            <a:solidFill>
              <a:srgbClr val="BFDBFE"/>
            </a:solidFill>
            <a:prstDash val="solid"/>
          </a:ln>
        </p:spPr>
      </p:sp>
      <p:sp>
        <p:nvSpPr>
          <p:cNvPr id="11" name="Text 9"/>
          <p:cNvSpPr/>
          <p:nvPr/>
        </p:nvSpPr>
        <p:spPr>
          <a:xfrm>
            <a:off x="1188720" y="2468880"/>
            <a:ext cx="4114800" cy="274320"/>
          </a:xfrm>
          <a:prstGeom prst="rect">
            <a:avLst/>
          </a:prstGeom>
          <a:noFill/>
          <a:ln/>
        </p:spPr>
        <p:txBody>
          <a:bodyPr wrap="square" rtlCol="0" anchor="ctr"/>
          <a:lstStyle/>
          <a:p>
            <a:pPr indent="0" marL="0">
              <a:buNone/>
            </a:pPr>
            <a:r>
              <a:rPr lang="en-US" sz="1200" b="1" dirty="0">
                <a:solidFill>
                  <a:srgbClr val="1D4ED8"/>
                </a:solidFill>
                <a:latin typeface="Arial" pitchFamily="34" charset="0"/>
                <a:ea typeface="Arial" pitchFamily="34" charset="-122"/>
                <a:cs typeface="Arial" pitchFamily="34" charset="-120"/>
              </a:rPr>
              <a:t>Doctor Station Evaluator</a:t>
            </a:r>
            <a:endParaRPr lang="en-US" sz="1200" dirty="0"/>
          </a:p>
        </p:txBody>
      </p:sp>
      <p:sp>
        <p:nvSpPr>
          <p:cNvPr id="12" name="Text 10"/>
          <p:cNvSpPr/>
          <p:nvPr/>
        </p:nvSpPr>
        <p:spPr>
          <a:xfrm>
            <a:off x="1188720" y="2788920"/>
            <a:ext cx="4114800" cy="914400"/>
          </a:xfrm>
          <a:prstGeom prst="rect">
            <a:avLst/>
          </a:prstGeom>
          <a:noFill/>
          <a:ln/>
        </p:spPr>
        <p:txBody>
          <a:bodyPr wrap="square" rtlCol="0" anchor="ctr"/>
          <a:lstStyle/>
          <a:p>
            <a:pPr indent="0" marL="0">
              <a:lnSpc>
                <a:spcPts val="1400"/>
              </a:lnSpc>
              <a:buNone/>
            </a:pPr>
            <a:r>
              <a:rPr lang="en-US" sz="1000" dirty="0">
                <a:solidFill>
                  <a:srgbClr val="0F172A"/>
                </a:solidFill>
                <a:latin typeface="Arial" pitchFamily="34" charset="0"/>
                <a:ea typeface="Arial" pitchFamily="34" charset="-122"/>
                <a:cs typeface="Arial" pitchFamily="34" charset="-120"/>
              </a:rPr>
              <a:t>Email: doctor1@veyora.com  |  Password: password123</a:t>
            </a:r>
            <a:endParaRPr lang="en-US" sz="1000" dirty="0"/>
          </a:p>
          <a:p>
            <a:pPr indent="0" marL="0">
              <a:lnSpc>
                <a:spcPts val="1400"/>
              </a:lnSpc>
              <a:buNone/>
            </a:pPr>
            <a:r>
              <a:rPr lang="en-US" sz="1000" dirty="0">
                <a:solidFill>
                  <a:srgbClr val="0F172A"/>
                </a:solidFill>
                <a:latin typeface="Arial" pitchFamily="34" charset="0"/>
                <a:ea typeface="Arial" pitchFamily="34" charset="-122"/>
                <a:cs typeface="Arial" pitchFamily="34" charset="-120"/>
              </a:rPr>
              <a:t>Route: /doctor  |  Role: General Physician (PHC North Main)</a:t>
            </a:r>
            <a:endParaRPr lang="en-US" sz="1000" dirty="0"/>
          </a:p>
          <a:p>
            <a:pPr indent="0" marL="0">
              <a:lnSpc>
                <a:spcPts val="1400"/>
              </a:lnSpc>
              <a:buNone/>
            </a:pPr>
            <a:r>
              <a:rPr lang="en-US" sz="1000" dirty="0">
                <a:solidFill>
                  <a:srgbClr val="0F172A"/>
                </a:solidFill>
                <a:latin typeface="Arial" pitchFamily="34" charset="0"/>
                <a:ea typeface="Arial" pitchFamily="34" charset="-122"/>
                <a:cs typeface="Arial" pitchFamily="34" charset="-120"/>
              </a:rPr>
              <a:t>Features: Live Queue (6 patients), Token Scanner, Prescription Builder</a:t>
            </a:r>
            <a:endParaRPr lang="en-US" sz="1000" dirty="0"/>
          </a:p>
        </p:txBody>
      </p:sp>
      <p:sp>
        <p:nvSpPr>
          <p:cNvPr id="13" name="Shape 11"/>
          <p:cNvSpPr/>
          <p:nvPr/>
        </p:nvSpPr>
        <p:spPr>
          <a:xfrm>
            <a:off x="1005840" y="4023360"/>
            <a:ext cx="4480560" cy="1737360"/>
          </a:xfrm>
          <a:prstGeom prst="roundRect">
            <a:avLst/>
          </a:prstGeom>
          <a:solidFill>
            <a:srgbClr val="F0FDF4"/>
          </a:solidFill>
          <a:ln w="12700">
            <a:solidFill>
              <a:srgbClr val="BBF7D0"/>
            </a:solidFill>
            <a:prstDash val="solid"/>
          </a:ln>
        </p:spPr>
      </p:sp>
      <p:sp>
        <p:nvSpPr>
          <p:cNvPr id="14" name="Text 12"/>
          <p:cNvSpPr/>
          <p:nvPr/>
        </p:nvSpPr>
        <p:spPr>
          <a:xfrm>
            <a:off x="1188720" y="4160520"/>
            <a:ext cx="4114800" cy="274320"/>
          </a:xfrm>
          <a:prstGeom prst="rect">
            <a:avLst/>
          </a:prstGeom>
          <a:noFill/>
          <a:ln/>
        </p:spPr>
        <p:txBody>
          <a:bodyPr wrap="square" rtlCol="0" anchor="ctr"/>
          <a:lstStyle/>
          <a:p>
            <a:pPr indent="0" marL="0">
              <a:buNone/>
            </a:pPr>
            <a:r>
              <a:rPr lang="en-US" sz="1200" b="1" dirty="0">
                <a:solidFill>
                  <a:srgbClr val="15803D"/>
                </a:solidFill>
                <a:latin typeface="Arial" pitchFamily="34" charset="0"/>
                <a:ea typeface="Arial" pitchFamily="34" charset="-122"/>
                <a:cs typeface="Arial" pitchFamily="34" charset="-120"/>
              </a:rPr>
              <a:t>Patient Portal Evaluator</a:t>
            </a:r>
            <a:endParaRPr lang="en-US" sz="1200" dirty="0"/>
          </a:p>
        </p:txBody>
      </p:sp>
      <p:sp>
        <p:nvSpPr>
          <p:cNvPr id="15" name="Text 13"/>
          <p:cNvSpPr/>
          <p:nvPr/>
        </p:nvSpPr>
        <p:spPr>
          <a:xfrm>
            <a:off x="1188720" y="4480560"/>
            <a:ext cx="4114800" cy="1143000"/>
          </a:xfrm>
          <a:prstGeom prst="rect">
            <a:avLst/>
          </a:prstGeom>
          <a:noFill/>
          <a:ln/>
        </p:spPr>
        <p:txBody>
          <a:bodyPr wrap="square" rtlCol="0" anchor="ctr"/>
          <a:lstStyle/>
          <a:p>
            <a:pPr indent="0" marL="0">
              <a:lnSpc>
                <a:spcPts val="1400"/>
              </a:lnSpc>
              <a:buNone/>
            </a:pPr>
            <a:r>
              <a:rPr lang="en-US" sz="1000" dirty="0">
                <a:solidFill>
                  <a:srgbClr val="0F172A"/>
                </a:solidFill>
                <a:latin typeface="Arial" pitchFamily="34" charset="0"/>
                <a:ea typeface="Arial" pitchFamily="34" charset="-122"/>
                <a:cs typeface="Arial" pitchFamily="34" charset="-120"/>
              </a:rPr>
              <a:t>Email: patient1@veyora.com  |  Password: password123</a:t>
            </a:r>
            <a:endParaRPr lang="en-US" sz="1000" dirty="0"/>
          </a:p>
          <a:p>
            <a:pPr indent="0" marL="0">
              <a:lnSpc>
                <a:spcPts val="1400"/>
              </a:lnSpc>
              <a:buNone/>
            </a:pPr>
            <a:r>
              <a:rPr lang="en-US" sz="1000" dirty="0">
                <a:solidFill>
                  <a:srgbClr val="0F172A"/>
                </a:solidFill>
                <a:latin typeface="Arial" pitchFamily="34" charset="0"/>
                <a:ea typeface="Arial" pitchFamily="34" charset="-122"/>
                <a:cs typeface="Arial" pitchFamily="34" charset="-120"/>
              </a:rPr>
              <a:t>Route: /patient  |  ABHA ID: ABHA-9821-4402-9912</a:t>
            </a:r>
            <a:endParaRPr lang="en-US" sz="1000" dirty="0"/>
          </a:p>
          <a:p>
            <a:pPr indent="0" marL="0">
              <a:lnSpc>
                <a:spcPts val="1400"/>
              </a:lnSpc>
              <a:buNone/>
            </a:pPr>
            <a:r>
              <a:rPr lang="en-US" sz="1000" dirty="0">
                <a:solidFill>
                  <a:srgbClr val="0F172A"/>
                </a:solidFill>
                <a:latin typeface="Arial" pitchFamily="34" charset="0"/>
                <a:ea typeface="Arial" pitchFamily="34" charset="-122"/>
                <a:cs typeface="Arial" pitchFamily="34" charset="-120"/>
              </a:rPr>
              <a:t>Features: Voice Intake, Consent QR Pass, Active AI Care Coordinator</a:t>
            </a:r>
            <a:endParaRPr lang="en-US" sz="1000" dirty="0"/>
          </a:p>
          <a:p>
            <a:pPr indent="0" marL="0">
              <a:lnSpc>
                <a:spcPts val="1400"/>
              </a:lnSpc>
              <a:buNone/>
            </a:pPr>
            <a:r>
              <a:rPr lang="en-US" sz="1000" dirty="0">
                <a:solidFill>
                  <a:srgbClr val="0F172A"/>
                </a:solidFill>
                <a:latin typeface="Arial" pitchFamily="34" charset="0"/>
                <a:ea typeface="Arial" pitchFamily="34" charset="-122"/>
                <a:cs typeface="Arial" pitchFamily="34" charset="-120"/>
              </a:rPr>
              <a:t>Context: Prescribed Metformin &amp; Lisinopril, Follow-up due tomorrow</a:t>
            </a:r>
            <a:endParaRPr lang="en-US" sz="1000" dirty="0"/>
          </a:p>
        </p:txBody>
      </p:sp>
      <p:sp>
        <p:nvSpPr>
          <p:cNvPr id="16" name="Shape 14"/>
          <p:cNvSpPr/>
          <p:nvPr/>
        </p:nvSpPr>
        <p:spPr>
          <a:xfrm>
            <a:off x="6035040" y="1691640"/>
            <a:ext cx="5422392" cy="4389120"/>
          </a:xfrm>
          <a:prstGeom prst="roundRect">
            <a:avLst/>
          </a:prstGeom>
          <a:solidFill>
            <a:srgbClr val="FFFFFF"/>
          </a:solidFill>
          <a:ln w="19050">
            <a:solidFill>
              <a:srgbClr val="E2E8F0"/>
            </a:solidFill>
            <a:prstDash val="solid"/>
          </a:ln>
        </p:spPr>
      </p:sp>
      <p:sp>
        <p:nvSpPr>
          <p:cNvPr id="17" name="Text 15"/>
          <p:cNvSpPr/>
          <p:nvPr/>
        </p:nvSpPr>
        <p:spPr>
          <a:xfrm>
            <a:off x="6309360" y="1920240"/>
            <a:ext cx="4873752" cy="32004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4-Step Live Evaluator Verification Flow</a:t>
            </a:r>
            <a:endParaRPr lang="en-US" sz="1500" dirty="0"/>
          </a:p>
        </p:txBody>
      </p:sp>
      <p:sp>
        <p:nvSpPr>
          <p:cNvPr id="18" name="Text 16"/>
          <p:cNvSpPr/>
          <p:nvPr/>
        </p:nvSpPr>
        <p:spPr>
          <a:xfrm>
            <a:off x="6309360" y="2377440"/>
            <a:ext cx="4873752"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 QR Pass Generation</a:t>
            </a:r>
            <a:endParaRPr lang="en-US" sz="1100" dirty="0"/>
          </a:p>
        </p:txBody>
      </p:sp>
      <p:sp>
        <p:nvSpPr>
          <p:cNvPr id="19" name="Text 17"/>
          <p:cNvSpPr/>
          <p:nvPr/>
        </p:nvSpPr>
        <p:spPr>
          <a:xfrm>
            <a:off x="6309360" y="2633472"/>
            <a:ext cx="4873752" cy="530352"/>
          </a:xfrm>
          <a:prstGeom prst="rect">
            <a:avLst/>
          </a:prstGeom>
          <a:noFill/>
          <a:ln/>
        </p:spPr>
        <p:txBody>
          <a:bodyPr wrap="square" rtlCol="0" anchor="ctr"/>
          <a:lstStyle/>
          <a:p>
            <a:pPr indent="0" marL="0">
              <a:lnSpc>
                <a:spcPts val="1300"/>
              </a:lnSpc>
              <a:buNone/>
            </a:pPr>
            <a:r>
              <a:rPr lang="en-US" sz="980" dirty="0">
                <a:solidFill>
                  <a:srgbClr val="475569"/>
                </a:solidFill>
                <a:latin typeface="Arial" pitchFamily="34" charset="0"/>
                <a:ea typeface="Arial" pitchFamily="34" charset="-122"/>
                <a:cs typeface="Arial" pitchFamily="34" charset="-120"/>
              </a:rPr>
              <a:t>Log in as Patient 1 -&gt; Open "Consent QR Pass". View cryptographic token and diagnosis summary without exposed cleartext PII.</a:t>
            </a:r>
            <a:endParaRPr lang="en-US" sz="980" dirty="0"/>
          </a:p>
        </p:txBody>
      </p:sp>
      <p:sp>
        <p:nvSpPr>
          <p:cNvPr id="20" name="Text 18"/>
          <p:cNvSpPr/>
          <p:nvPr/>
        </p:nvSpPr>
        <p:spPr>
          <a:xfrm>
            <a:off x="6309360" y="3273552"/>
            <a:ext cx="4873752"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2. Doctor Scan &amp; Queueing</a:t>
            </a:r>
            <a:endParaRPr lang="en-US" sz="1100" dirty="0"/>
          </a:p>
        </p:txBody>
      </p:sp>
      <p:sp>
        <p:nvSpPr>
          <p:cNvPr id="21" name="Text 19"/>
          <p:cNvSpPr/>
          <p:nvPr/>
        </p:nvSpPr>
        <p:spPr>
          <a:xfrm>
            <a:off x="6309360" y="3529584"/>
            <a:ext cx="4873752" cy="530352"/>
          </a:xfrm>
          <a:prstGeom prst="rect">
            <a:avLst/>
          </a:prstGeom>
          <a:noFill/>
          <a:ln/>
        </p:spPr>
        <p:txBody>
          <a:bodyPr wrap="square" rtlCol="0" anchor="ctr"/>
          <a:lstStyle/>
          <a:p>
            <a:pPr indent="0" marL="0">
              <a:lnSpc>
                <a:spcPts val="1300"/>
              </a:lnSpc>
              <a:buNone/>
            </a:pPr>
            <a:r>
              <a:rPr lang="en-US" sz="980" dirty="0">
                <a:solidFill>
                  <a:srgbClr val="475569"/>
                </a:solidFill>
                <a:latin typeface="Arial" pitchFamily="34" charset="0"/>
                <a:ea typeface="Arial" pitchFamily="34" charset="-122"/>
                <a:cs typeface="Arial" pitchFamily="34" charset="-120"/>
              </a:rPr>
              <a:t>Log in as Doctor 1 -&gt; Open "Token Lookup &amp; Scan". Activate webcam to scan QR or enter token. Observe instant briefing load.</a:t>
            </a:r>
            <a:endParaRPr lang="en-US" sz="980" dirty="0"/>
          </a:p>
        </p:txBody>
      </p:sp>
      <p:sp>
        <p:nvSpPr>
          <p:cNvPr id="22" name="Text 20"/>
          <p:cNvSpPr/>
          <p:nvPr/>
        </p:nvSpPr>
        <p:spPr>
          <a:xfrm>
            <a:off x="6309360" y="4169664"/>
            <a:ext cx="4873752"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3. Prescription Sign-Off</a:t>
            </a:r>
            <a:endParaRPr lang="en-US" sz="1100" dirty="0"/>
          </a:p>
        </p:txBody>
      </p:sp>
      <p:sp>
        <p:nvSpPr>
          <p:cNvPr id="23" name="Text 21"/>
          <p:cNvSpPr/>
          <p:nvPr/>
        </p:nvSpPr>
        <p:spPr>
          <a:xfrm>
            <a:off x="6309360" y="4425696"/>
            <a:ext cx="4873752" cy="530352"/>
          </a:xfrm>
          <a:prstGeom prst="rect">
            <a:avLst/>
          </a:prstGeom>
          <a:noFill/>
          <a:ln/>
        </p:spPr>
        <p:txBody>
          <a:bodyPr wrap="square" rtlCol="0" anchor="ctr"/>
          <a:lstStyle/>
          <a:p>
            <a:pPr indent="0" marL="0">
              <a:lnSpc>
                <a:spcPts val="1300"/>
              </a:lnSpc>
              <a:buNone/>
            </a:pPr>
            <a:r>
              <a:rPr lang="en-US" sz="980" dirty="0">
                <a:solidFill>
                  <a:srgbClr val="475569"/>
                </a:solidFill>
                <a:latin typeface="Arial" pitchFamily="34" charset="0"/>
                <a:ea typeface="Arial" pitchFamily="34" charset="-122"/>
                <a:cs typeface="Arial" pitchFamily="34" charset="-120"/>
              </a:rPr>
              <a:t>Select medications (e.g. Paracetamol 500mg, 1-0-1), set duration, and click "Sign &amp; Lock Encounter". Encounter becomes immutable.</a:t>
            </a:r>
            <a:endParaRPr lang="en-US" sz="980" dirty="0"/>
          </a:p>
        </p:txBody>
      </p:sp>
      <p:sp>
        <p:nvSpPr>
          <p:cNvPr id="24" name="Text 22"/>
          <p:cNvSpPr/>
          <p:nvPr/>
        </p:nvSpPr>
        <p:spPr>
          <a:xfrm>
            <a:off x="6309360" y="5065776"/>
            <a:ext cx="4873752"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4. AI Telemetry &amp; T-1 Alerts</a:t>
            </a:r>
            <a:endParaRPr lang="en-US" sz="1100" dirty="0"/>
          </a:p>
        </p:txBody>
      </p:sp>
      <p:sp>
        <p:nvSpPr>
          <p:cNvPr id="25" name="Text 23"/>
          <p:cNvSpPr/>
          <p:nvPr/>
        </p:nvSpPr>
        <p:spPr>
          <a:xfrm>
            <a:off x="6309360" y="5321808"/>
            <a:ext cx="4873752" cy="530352"/>
          </a:xfrm>
          <a:prstGeom prst="rect">
            <a:avLst/>
          </a:prstGeom>
          <a:noFill/>
          <a:ln/>
        </p:spPr>
        <p:txBody>
          <a:bodyPr wrap="square" rtlCol="0" anchor="ctr"/>
          <a:lstStyle/>
          <a:p>
            <a:pPr indent="0" marL="0">
              <a:lnSpc>
                <a:spcPts val="1300"/>
              </a:lnSpc>
              <a:buNone/>
            </a:pPr>
            <a:r>
              <a:rPr lang="en-US" sz="980" dirty="0">
                <a:solidFill>
                  <a:srgbClr val="475569"/>
                </a:solidFill>
                <a:latin typeface="Arial" pitchFamily="34" charset="0"/>
                <a:ea typeface="Arial" pitchFamily="34" charset="-122"/>
                <a:cs typeface="Arial" pitchFamily="34" charset="-120"/>
              </a:rPr>
              <a:t>Return to Patient 1 -&gt; Open "AI Care Coordinator". Observe auto-populated 3-slot dose schedule, T-1 fasting alert, and test Hindi Q&amp;A.</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2563EB"/>
          </a:solidFill>
          <a:ln/>
        </p:spPr>
      </p:sp>
      <p:sp>
        <p:nvSpPr>
          <p:cNvPr id="3" name="Text 1"/>
          <p:cNvSpPr/>
          <p:nvPr/>
        </p:nvSpPr>
        <p:spPr>
          <a:xfrm>
            <a:off x="731520" y="411480"/>
            <a:ext cx="9144000" cy="274320"/>
          </a:xfrm>
          <a:prstGeom prst="rect">
            <a:avLst/>
          </a:prstGeom>
          <a:noFill/>
          <a:ln/>
        </p:spPr>
        <p:txBody>
          <a:bodyPr wrap="square"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FUTURE VISION</a:t>
            </a:r>
            <a:endParaRPr lang="en-US" sz="1000" dirty="0"/>
          </a:p>
        </p:txBody>
      </p:sp>
      <p:sp>
        <p:nvSpPr>
          <p:cNvPr id="4" name="Text 2"/>
          <p:cNvSpPr/>
          <p:nvPr/>
        </p:nvSpPr>
        <p:spPr>
          <a:xfrm>
            <a:off x="731520" y="685800"/>
            <a:ext cx="105156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Public Health Impact, Scalability &amp; Strategic Roadmap</a:t>
            </a:r>
            <a:endParaRPr lang="en-US" sz="2200" dirty="0"/>
          </a:p>
        </p:txBody>
      </p:sp>
      <p:sp>
        <p:nvSpPr>
          <p:cNvPr id="5" name="Text 3"/>
          <p:cNvSpPr/>
          <p:nvPr/>
        </p:nvSpPr>
        <p:spPr>
          <a:xfrm>
            <a:off x="731520" y="1188720"/>
            <a:ext cx="10698480" cy="32004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Extending Veyora from primary health centres to nationwide public healthcare infrastructure</a:t>
            </a:r>
            <a:endParaRPr lang="en-US" sz="1200" dirty="0"/>
          </a:p>
        </p:txBody>
      </p:sp>
      <p:sp>
        <p:nvSpPr>
          <p:cNvPr id="6" name="Shape 4"/>
          <p:cNvSpPr/>
          <p:nvPr/>
        </p:nvSpPr>
        <p:spPr>
          <a:xfrm>
            <a:off x="731520" y="6400800"/>
            <a:ext cx="10725912" cy="0"/>
          </a:xfrm>
          <a:prstGeom prst="line">
            <a:avLst/>
          </a:prstGeom>
          <a:noFill/>
          <a:ln w="12700">
            <a:solidFill>
              <a:srgbClr val="E2E8F0"/>
            </a:solidFill>
            <a:prstDash val="solid"/>
          </a:ln>
        </p:spPr>
      </p:sp>
      <p:sp>
        <p:nvSpPr>
          <p:cNvPr id="7" name="Text 5"/>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Veyora Healthcare · Intelligent Clinical Continuity Platform (IIITD MVP Deck)</a:t>
            </a:r>
            <a:endParaRPr lang="en-US" sz="900" dirty="0"/>
          </a:p>
        </p:txBody>
      </p:sp>
      <p:sp>
        <p:nvSpPr>
          <p:cNvPr id="8" name="Shape 6"/>
          <p:cNvSpPr/>
          <p:nvPr/>
        </p:nvSpPr>
        <p:spPr>
          <a:xfrm>
            <a:off x="731520" y="1691640"/>
            <a:ext cx="5239512" cy="4389120"/>
          </a:xfrm>
          <a:prstGeom prst="roundRect">
            <a:avLst/>
          </a:prstGeom>
          <a:solidFill>
            <a:srgbClr val="FFFFFF"/>
          </a:solidFill>
          <a:ln w="19050">
            <a:solidFill>
              <a:srgbClr val="E2E8F0"/>
            </a:solidFill>
            <a:prstDash val="solid"/>
          </a:ln>
        </p:spPr>
      </p:sp>
      <p:sp>
        <p:nvSpPr>
          <p:cNvPr id="9" name="Text 7"/>
          <p:cNvSpPr/>
          <p:nvPr/>
        </p:nvSpPr>
        <p:spPr>
          <a:xfrm>
            <a:off x="1005840" y="1920240"/>
            <a:ext cx="4690872" cy="32004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Projected Healthcare Outcomes</a:t>
            </a:r>
            <a:endParaRPr lang="en-US" sz="1500" dirty="0"/>
          </a:p>
        </p:txBody>
      </p:sp>
      <p:sp>
        <p:nvSpPr>
          <p:cNvPr id="10" name="Text 8"/>
          <p:cNvSpPr/>
          <p:nvPr/>
        </p:nvSpPr>
        <p:spPr>
          <a:xfrm>
            <a:off x="1005840" y="2331720"/>
            <a:ext cx="1828800" cy="274320"/>
          </a:xfrm>
          <a:prstGeom prst="rect">
            <a:avLst/>
          </a:prstGeom>
          <a:noFill/>
          <a:ln/>
        </p:spPr>
        <p:txBody>
          <a:bodyPr wrap="square" rtlCol="0" anchor="ctr"/>
          <a:lstStyle/>
          <a:p>
            <a:pPr indent="0" marL="0">
              <a:buNone/>
            </a:pPr>
            <a:r>
              <a:rPr lang="en-US" sz="1200" b="1" dirty="0">
                <a:solidFill>
                  <a:srgbClr val="2563EB"/>
                </a:solidFill>
                <a:latin typeface="Arial" pitchFamily="34" charset="0"/>
                <a:ea typeface="Arial" pitchFamily="34" charset="-122"/>
                <a:cs typeface="Arial" pitchFamily="34" charset="-120"/>
              </a:rPr>
              <a:t>40% Reduction</a:t>
            </a:r>
            <a:endParaRPr lang="en-US" sz="1200" dirty="0"/>
          </a:p>
        </p:txBody>
      </p:sp>
      <p:sp>
        <p:nvSpPr>
          <p:cNvPr id="11" name="Text 9"/>
          <p:cNvSpPr/>
          <p:nvPr/>
        </p:nvSpPr>
        <p:spPr>
          <a:xfrm>
            <a:off x="2743200" y="2331720"/>
            <a:ext cx="29260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In Missed Clinical Follow-Ups</a:t>
            </a:r>
            <a:endParaRPr lang="en-US" sz="1100" dirty="0"/>
          </a:p>
        </p:txBody>
      </p:sp>
      <p:sp>
        <p:nvSpPr>
          <p:cNvPr id="12" name="Text 10"/>
          <p:cNvSpPr/>
          <p:nvPr/>
        </p:nvSpPr>
        <p:spPr>
          <a:xfrm>
            <a:off x="1005840" y="2606040"/>
            <a:ext cx="4690872" cy="548640"/>
          </a:xfrm>
          <a:prstGeom prst="rect">
            <a:avLst/>
          </a:prstGeom>
          <a:noFill/>
          <a:ln/>
        </p:spPr>
        <p:txBody>
          <a:bodyPr wrap="square" rtlCol="0" anchor="ctr"/>
          <a:lstStyle/>
          <a:p>
            <a:pPr indent="0" marL="0">
              <a:lnSpc>
                <a:spcPts val="1200"/>
              </a:lnSpc>
              <a:buNone/>
            </a:pPr>
            <a:r>
              <a:rPr lang="en-US" sz="950" dirty="0">
                <a:solidFill>
                  <a:srgbClr val="475569"/>
                </a:solidFill>
                <a:latin typeface="Arial" pitchFamily="34" charset="0"/>
                <a:ea typeface="Arial" pitchFamily="34" charset="-122"/>
                <a:cs typeface="Arial" pitchFamily="34" charset="-120"/>
              </a:rPr>
              <a:t>Proactive T-1 preparation reminders prevent forgotten visits and ensure patients arrive test-ready.</a:t>
            </a:r>
            <a:endParaRPr lang="en-US" sz="950" dirty="0"/>
          </a:p>
        </p:txBody>
      </p:sp>
      <p:sp>
        <p:nvSpPr>
          <p:cNvPr id="13" name="Text 11"/>
          <p:cNvSpPr/>
          <p:nvPr/>
        </p:nvSpPr>
        <p:spPr>
          <a:xfrm>
            <a:off x="1005840" y="3246120"/>
            <a:ext cx="1828800" cy="274320"/>
          </a:xfrm>
          <a:prstGeom prst="rect">
            <a:avLst/>
          </a:prstGeom>
          <a:noFill/>
          <a:ln/>
        </p:spPr>
        <p:txBody>
          <a:bodyPr wrap="square" rtlCol="0" anchor="ctr"/>
          <a:lstStyle/>
          <a:p>
            <a:pPr indent="0" marL="0">
              <a:buNone/>
            </a:pPr>
            <a:r>
              <a:rPr lang="en-US" sz="1200" b="1" dirty="0">
                <a:solidFill>
                  <a:srgbClr val="2563EB"/>
                </a:solidFill>
                <a:latin typeface="Arial" pitchFamily="34" charset="0"/>
                <a:ea typeface="Arial" pitchFamily="34" charset="-122"/>
                <a:cs typeface="Arial" pitchFamily="34" charset="-120"/>
              </a:rPr>
              <a:t>3x Improvement</a:t>
            </a:r>
            <a:endParaRPr lang="en-US" sz="1200" dirty="0"/>
          </a:p>
        </p:txBody>
      </p:sp>
      <p:sp>
        <p:nvSpPr>
          <p:cNvPr id="14" name="Text 12"/>
          <p:cNvSpPr/>
          <p:nvPr/>
        </p:nvSpPr>
        <p:spPr>
          <a:xfrm>
            <a:off x="2743200" y="3246120"/>
            <a:ext cx="29260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In Chronic Medication Adherence</a:t>
            </a:r>
            <a:endParaRPr lang="en-US" sz="1100" dirty="0"/>
          </a:p>
        </p:txBody>
      </p:sp>
      <p:sp>
        <p:nvSpPr>
          <p:cNvPr id="15" name="Text 13"/>
          <p:cNvSpPr/>
          <p:nvPr/>
        </p:nvSpPr>
        <p:spPr>
          <a:xfrm>
            <a:off x="1005840" y="3520440"/>
            <a:ext cx="4690872" cy="548640"/>
          </a:xfrm>
          <a:prstGeom prst="rect">
            <a:avLst/>
          </a:prstGeom>
          <a:noFill/>
          <a:ln/>
        </p:spPr>
        <p:txBody>
          <a:bodyPr wrap="square" rtlCol="0" anchor="ctr"/>
          <a:lstStyle/>
          <a:p>
            <a:pPr indent="0" marL="0">
              <a:lnSpc>
                <a:spcPts val="1200"/>
              </a:lnSpc>
              <a:buNone/>
            </a:pPr>
            <a:r>
              <a:rPr lang="en-US" sz="950" dirty="0">
                <a:solidFill>
                  <a:srgbClr val="475569"/>
                </a:solidFill>
                <a:latin typeface="Arial" pitchFamily="34" charset="0"/>
                <a:ea typeface="Arial" pitchFamily="34" charset="-122"/>
                <a:cs typeface="Arial" pitchFamily="34" charset="-120"/>
              </a:rPr>
              <a:t>Daily 3-slot telemetry (M/A/N) turns overwhelming prescription slips into manageable daily habit loops.</a:t>
            </a:r>
            <a:endParaRPr lang="en-US" sz="950" dirty="0"/>
          </a:p>
        </p:txBody>
      </p:sp>
      <p:sp>
        <p:nvSpPr>
          <p:cNvPr id="16" name="Text 14"/>
          <p:cNvSpPr/>
          <p:nvPr/>
        </p:nvSpPr>
        <p:spPr>
          <a:xfrm>
            <a:off x="1005840" y="4160520"/>
            <a:ext cx="1828800" cy="274320"/>
          </a:xfrm>
          <a:prstGeom prst="rect">
            <a:avLst/>
          </a:prstGeom>
          <a:noFill/>
          <a:ln/>
        </p:spPr>
        <p:txBody>
          <a:bodyPr wrap="square" rtlCol="0" anchor="ctr"/>
          <a:lstStyle/>
          <a:p>
            <a:pPr indent="0" marL="0">
              <a:buNone/>
            </a:pPr>
            <a:r>
              <a:rPr lang="en-US" sz="1200" b="1" dirty="0">
                <a:solidFill>
                  <a:srgbClr val="2563EB"/>
                </a:solidFill>
                <a:latin typeface="Arial" pitchFamily="34" charset="0"/>
                <a:ea typeface="Arial" pitchFamily="34" charset="-122"/>
                <a:cs typeface="Arial" pitchFamily="34" charset="-120"/>
              </a:rPr>
              <a:t>65% Time Saved</a:t>
            </a:r>
            <a:endParaRPr lang="en-US" sz="1200" dirty="0"/>
          </a:p>
        </p:txBody>
      </p:sp>
      <p:sp>
        <p:nvSpPr>
          <p:cNvPr id="17" name="Text 15"/>
          <p:cNvSpPr/>
          <p:nvPr/>
        </p:nvSpPr>
        <p:spPr>
          <a:xfrm>
            <a:off x="2743200" y="4160520"/>
            <a:ext cx="29260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In Outpatient Registration &amp; Triage</a:t>
            </a:r>
            <a:endParaRPr lang="en-US" sz="1100" dirty="0"/>
          </a:p>
        </p:txBody>
      </p:sp>
      <p:sp>
        <p:nvSpPr>
          <p:cNvPr id="18" name="Text 16"/>
          <p:cNvSpPr/>
          <p:nvPr/>
        </p:nvSpPr>
        <p:spPr>
          <a:xfrm>
            <a:off x="1005840" y="4434840"/>
            <a:ext cx="4690872" cy="548640"/>
          </a:xfrm>
          <a:prstGeom prst="rect">
            <a:avLst/>
          </a:prstGeom>
          <a:noFill/>
          <a:ln/>
        </p:spPr>
        <p:txBody>
          <a:bodyPr wrap="square" rtlCol="0" anchor="ctr"/>
          <a:lstStyle/>
          <a:p>
            <a:pPr indent="0" marL="0">
              <a:lnSpc>
                <a:spcPts val="1200"/>
              </a:lnSpc>
              <a:buNone/>
            </a:pPr>
            <a:r>
              <a:rPr lang="en-US" sz="950" dirty="0">
                <a:solidFill>
                  <a:srgbClr val="475569"/>
                </a:solidFill>
                <a:latin typeface="Arial" pitchFamily="34" charset="0"/>
                <a:ea typeface="Arial" pitchFamily="34" charset="-122"/>
                <a:cs typeface="Arial" pitchFamily="34" charset="-120"/>
              </a:rPr>
              <a:t>Contactless camera QR token scanning eliminates physical paper searches and manual registration lines.</a:t>
            </a:r>
            <a:endParaRPr lang="en-US" sz="950" dirty="0"/>
          </a:p>
        </p:txBody>
      </p:sp>
      <p:sp>
        <p:nvSpPr>
          <p:cNvPr id="19" name="Text 17"/>
          <p:cNvSpPr/>
          <p:nvPr/>
        </p:nvSpPr>
        <p:spPr>
          <a:xfrm>
            <a:off x="1005840" y="5074920"/>
            <a:ext cx="1828800" cy="274320"/>
          </a:xfrm>
          <a:prstGeom prst="rect">
            <a:avLst/>
          </a:prstGeom>
          <a:noFill/>
          <a:ln/>
        </p:spPr>
        <p:txBody>
          <a:bodyPr wrap="square" rtlCol="0" anchor="ctr"/>
          <a:lstStyle/>
          <a:p>
            <a:pPr indent="0" marL="0">
              <a:buNone/>
            </a:pPr>
            <a:r>
              <a:rPr lang="en-US" sz="1200" b="1" dirty="0">
                <a:solidFill>
                  <a:srgbClr val="2563EB"/>
                </a:solidFill>
                <a:latin typeface="Arial" pitchFamily="34" charset="0"/>
                <a:ea typeface="Arial" pitchFamily="34" charset="-122"/>
                <a:cs typeface="Arial" pitchFamily="34" charset="-120"/>
              </a:rPr>
              <a:t>Zero Lost Records</a:t>
            </a:r>
            <a:endParaRPr lang="en-US" sz="1200" dirty="0"/>
          </a:p>
        </p:txBody>
      </p:sp>
      <p:sp>
        <p:nvSpPr>
          <p:cNvPr id="20" name="Text 18"/>
          <p:cNvSpPr/>
          <p:nvPr/>
        </p:nvSpPr>
        <p:spPr>
          <a:xfrm>
            <a:off x="2743200" y="5074920"/>
            <a:ext cx="29260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Across Clinical Encounters</a:t>
            </a:r>
            <a:endParaRPr lang="en-US" sz="1100" dirty="0"/>
          </a:p>
        </p:txBody>
      </p:sp>
      <p:sp>
        <p:nvSpPr>
          <p:cNvPr id="21" name="Text 19"/>
          <p:cNvSpPr/>
          <p:nvPr/>
        </p:nvSpPr>
        <p:spPr>
          <a:xfrm>
            <a:off x="1005840" y="5349240"/>
            <a:ext cx="4690872" cy="548640"/>
          </a:xfrm>
          <a:prstGeom prst="rect">
            <a:avLst/>
          </a:prstGeom>
          <a:noFill/>
          <a:ln/>
        </p:spPr>
        <p:txBody>
          <a:bodyPr wrap="square" rtlCol="0" anchor="ctr"/>
          <a:lstStyle/>
          <a:p>
            <a:pPr indent="0" marL="0">
              <a:lnSpc>
                <a:spcPts val="1200"/>
              </a:lnSpc>
              <a:buNone/>
            </a:pPr>
            <a:r>
              <a:rPr lang="en-US" sz="950" dirty="0">
                <a:solidFill>
                  <a:srgbClr val="475569"/>
                </a:solidFill>
                <a:latin typeface="Arial" pitchFamily="34" charset="0"/>
                <a:ea typeface="Arial" pitchFamily="34" charset="-122"/>
                <a:cs typeface="Arial" pitchFamily="34" charset="-120"/>
              </a:rPr>
              <a:t>Centralized digital history protects low-income patients from losing paper slips during monsoon or transit.</a:t>
            </a:r>
            <a:endParaRPr lang="en-US" sz="950" dirty="0"/>
          </a:p>
        </p:txBody>
      </p:sp>
      <p:sp>
        <p:nvSpPr>
          <p:cNvPr id="22" name="Shape 20"/>
          <p:cNvSpPr/>
          <p:nvPr/>
        </p:nvSpPr>
        <p:spPr>
          <a:xfrm>
            <a:off x="6217920" y="1691640"/>
            <a:ext cx="5239512" cy="4389120"/>
          </a:xfrm>
          <a:prstGeom prst="roundRect">
            <a:avLst/>
          </a:prstGeom>
          <a:solidFill>
            <a:srgbClr val="F8FAFC"/>
          </a:solidFill>
          <a:ln w="19050">
            <a:solidFill>
              <a:srgbClr val="E2E8F0"/>
            </a:solidFill>
            <a:prstDash val="solid"/>
          </a:ln>
        </p:spPr>
      </p:sp>
      <p:sp>
        <p:nvSpPr>
          <p:cNvPr id="23" name="Text 21"/>
          <p:cNvSpPr/>
          <p:nvPr/>
        </p:nvSpPr>
        <p:spPr>
          <a:xfrm>
            <a:off x="6492240" y="1920240"/>
            <a:ext cx="4690872"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Strategic Scalability Roadmap</a:t>
            </a:r>
            <a:endParaRPr lang="en-US" sz="1500" dirty="0"/>
          </a:p>
        </p:txBody>
      </p:sp>
      <p:sp>
        <p:nvSpPr>
          <p:cNvPr id="24" name="Shape 22"/>
          <p:cNvSpPr/>
          <p:nvPr/>
        </p:nvSpPr>
        <p:spPr>
          <a:xfrm>
            <a:off x="6492240" y="2331720"/>
            <a:ext cx="4690872" cy="804672"/>
          </a:xfrm>
          <a:prstGeom prst="roundRect">
            <a:avLst/>
          </a:prstGeom>
          <a:solidFill>
            <a:srgbClr val="FFFFFF"/>
          </a:solidFill>
          <a:ln w="12700">
            <a:solidFill>
              <a:srgbClr val="E2E8F0"/>
            </a:solidFill>
            <a:prstDash val="solid"/>
          </a:ln>
        </p:spPr>
      </p:sp>
      <p:sp>
        <p:nvSpPr>
          <p:cNvPr id="25" name="Text 23"/>
          <p:cNvSpPr/>
          <p:nvPr/>
        </p:nvSpPr>
        <p:spPr>
          <a:xfrm>
            <a:off x="6629400" y="2404872"/>
            <a:ext cx="4389120" cy="201168"/>
          </a:xfrm>
          <a:prstGeom prst="rect">
            <a:avLst/>
          </a:prstGeom>
          <a:noFill/>
          <a:ln/>
        </p:spPr>
        <p:txBody>
          <a:bodyPr wrap="square" rtlCol="0" anchor="ctr"/>
          <a:lstStyle/>
          <a:p>
            <a:pPr indent="0" marL="0">
              <a:buNone/>
            </a:pPr>
            <a:r>
              <a:rPr lang="en-US" sz="850" b="1" dirty="0">
                <a:solidFill>
                  <a:srgbClr val="2563EB"/>
                </a:solidFill>
                <a:latin typeface="Arial" pitchFamily="34" charset="0"/>
                <a:ea typeface="Arial" pitchFamily="34" charset="-122"/>
                <a:cs typeface="Arial" pitchFamily="34" charset="-120"/>
              </a:rPr>
              <a:t>PHASE 1 (Completed MVP)</a:t>
            </a:r>
            <a:endParaRPr lang="en-US" sz="850" dirty="0"/>
          </a:p>
        </p:txBody>
      </p:sp>
      <p:sp>
        <p:nvSpPr>
          <p:cNvPr id="26" name="Text 24"/>
          <p:cNvSpPr/>
          <p:nvPr/>
        </p:nvSpPr>
        <p:spPr>
          <a:xfrm>
            <a:off x="6629400" y="2587752"/>
            <a:ext cx="4389120"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Core Tri-Pillar Architecture</a:t>
            </a:r>
            <a:endParaRPr lang="en-US" sz="1050" dirty="0"/>
          </a:p>
        </p:txBody>
      </p:sp>
      <p:sp>
        <p:nvSpPr>
          <p:cNvPr id="27" name="Text 25"/>
          <p:cNvSpPr/>
          <p:nvPr/>
        </p:nvSpPr>
        <p:spPr>
          <a:xfrm>
            <a:off x="6629400" y="2788920"/>
            <a:ext cx="4389120" cy="320040"/>
          </a:xfrm>
          <a:prstGeom prst="rect">
            <a:avLst/>
          </a:prstGeom>
          <a:noFill/>
          <a:ln/>
        </p:spPr>
        <p:txBody>
          <a:bodyPr wrap="square" rtlCol="0" anchor="ctr"/>
          <a:lstStyle/>
          <a:p>
            <a:pPr indent="0" marL="0">
              <a:buNone/>
            </a:pPr>
            <a:r>
              <a:rPr lang="en-US" sz="880" dirty="0">
                <a:solidFill>
                  <a:srgbClr val="475569"/>
                </a:solidFill>
                <a:latin typeface="Arial" pitchFamily="34" charset="0"/>
                <a:ea typeface="Arial" pitchFamily="34" charset="-122"/>
                <a:cs typeface="Arial" pitchFamily="34" charset="-120"/>
              </a:rPr>
              <a:t>Functional Doctor Workstation, Patient Experience, QR hardware scanner, 3-slot AI telemetry, and hourly cron daemons.</a:t>
            </a:r>
            <a:endParaRPr lang="en-US" sz="880" dirty="0"/>
          </a:p>
        </p:txBody>
      </p:sp>
      <p:sp>
        <p:nvSpPr>
          <p:cNvPr id="28" name="Shape 26"/>
          <p:cNvSpPr/>
          <p:nvPr/>
        </p:nvSpPr>
        <p:spPr>
          <a:xfrm>
            <a:off x="6492240" y="3246120"/>
            <a:ext cx="4690872" cy="804672"/>
          </a:xfrm>
          <a:prstGeom prst="roundRect">
            <a:avLst/>
          </a:prstGeom>
          <a:solidFill>
            <a:srgbClr val="FFFFFF"/>
          </a:solidFill>
          <a:ln w="12700">
            <a:solidFill>
              <a:srgbClr val="E2E8F0"/>
            </a:solidFill>
            <a:prstDash val="solid"/>
          </a:ln>
        </p:spPr>
      </p:sp>
      <p:sp>
        <p:nvSpPr>
          <p:cNvPr id="29" name="Text 27"/>
          <p:cNvSpPr/>
          <p:nvPr/>
        </p:nvSpPr>
        <p:spPr>
          <a:xfrm>
            <a:off x="6629400" y="3319272"/>
            <a:ext cx="4389120" cy="201168"/>
          </a:xfrm>
          <a:prstGeom prst="rect">
            <a:avLst/>
          </a:prstGeom>
          <a:noFill/>
          <a:ln/>
        </p:spPr>
        <p:txBody>
          <a:bodyPr wrap="square" rtlCol="0" anchor="ctr"/>
          <a:lstStyle/>
          <a:p>
            <a:pPr indent="0" marL="0">
              <a:buNone/>
            </a:pPr>
            <a:r>
              <a:rPr lang="en-US" sz="850" b="1" dirty="0">
                <a:solidFill>
                  <a:srgbClr val="2563EB"/>
                </a:solidFill>
                <a:latin typeface="Arial" pitchFamily="34" charset="0"/>
                <a:ea typeface="Arial" pitchFamily="34" charset="-122"/>
                <a:cs typeface="Arial" pitchFamily="34" charset="-120"/>
              </a:rPr>
              <a:t>PHASE 2 (Next 60 Days)</a:t>
            </a:r>
            <a:endParaRPr lang="en-US" sz="850" dirty="0"/>
          </a:p>
        </p:txBody>
      </p:sp>
      <p:sp>
        <p:nvSpPr>
          <p:cNvPr id="30" name="Text 28"/>
          <p:cNvSpPr/>
          <p:nvPr/>
        </p:nvSpPr>
        <p:spPr>
          <a:xfrm>
            <a:off x="6629400" y="3502152"/>
            <a:ext cx="4389120"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WhatsApp &amp; SMS Multi-Channel Gateway</a:t>
            </a:r>
            <a:endParaRPr lang="en-US" sz="1050" dirty="0"/>
          </a:p>
        </p:txBody>
      </p:sp>
      <p:sp>
        <p:nvSpPr>
          <p:cNvPr id="31" name="Text 29"/>
          <p:cNvSpPr/>
          <p:nvPr/>
        </p:nvSpPr>
        <p:spPr>
          <a:xfrm>
            <a:off x="6629400" y="3703320"/>
            <a:ext cx="4389120" cy="320040"/>
          </a:xfrm>
          <a:prstGeom prst="rect">
            <a:avLst/>
          </a:prstGeom>
          <a:noFill/>
          <a:ln/>
        </p:spPr>
        <p:txBody>
          <a:bodyPr wrap="square" rtlCol="0" anchor="ctr"/>
          <a:lstStyle/>
          <a:p>
            <a:pPr indent="0" marL="0">
              <a:buNone/>
            </a:pPr>
            <a:r>
              <a:rPr lang="en-US" sz="880" dirty="0">
                <a:solidFill>
                  <a:srgbClr val="475569"/>
                </a:solidFill>
                <a:latin typeface="Arial" pitchFamily="34" charset="0"/>
                <a:ea typeface="Arial" pitchFamily="34" charset="-122"/>
                <a:cs typeface="Arial" pitchFamily="34" charset="-120"/>
              </a:rPr>
              <a:t>Integrate twilio/GupShup for automated WhatsApp bot reminders so non-smartphone users receive daily dose SMS alerts.</a:t>
            </a:r>
            <a:endParaRPr lang="en-US" sz="880" dirty="0"/>
          </a:p>
        </p:txBody>
      </p:sp>
      <p:sp>
        <p:nvSpPr>
          <p:cNvPr id="32" name="Shape 30"/>
          <p:cNvSpPr/>
          <p:nvPr/>
        </p:nvSpPr>
        <p:spPr>
          <a:xfrm>
            <a:off x="6492240" y="4160520"/>
            <a:ext cx="4690872" cy="804672"/>
          </a:xfrm>
          <a:prstGeom prst="roundRect">
            <a:avLst/>
          </a:prstGeom>
          <a:solidFill>
            <a:srgbClr val="FFFFFF"/>
          </a:solidFill>
          <a:ln w="12700">
            <a:solidFill>
              <a:srgbClr val="E2E8F0"/>
            </a:solidFill>
            <a:prstDash val="solid"/>
          </a:ln>
        </p:spPr>
      </p:sp>
      <p:sp>
        <p:nvSpPr>
          <p:cNvPr id="33" name="Text 31"/>
          <p:cNvSpPr/>
          <p:nvPr/>
        </p:nvSpPr>
        <p:spPr>
          <a:xfrm>
            <a:off x="6629400" y="4233672"/>
            <a:ext cx="4389120" cy="201168"/>
          </a:xfrm>
          <a:prstGeom prst="rect">
            <a:avLst/>
          </a:prstGeom>
          <a:noFill/>
          <a:ln/>
        </p:spPr>
        <p:txBody>
          <a:bodyPr wrap="square" rtlCol="0" anchor="ctr"/>
          <a:lstStyle/>
          <a:p>
            <a:pPr indent="0" marL="0">
              <a:buNone/>
            </a:pPr>
            <a:r>
              <a:rPr lang="en-US" sz="850" b="1" dirty="0">
                <a:solidFill>
                  <a:srgbClr val="2563EB"/>
                </a:solidFill>
                <a:latin typeface="Arial" pitchFamily="34" charset="0"/>
                <a:ea typeface="Arial" pitchFamily="34" charset="-122"/>
                <a:cs typeface="Arial" pitchFamily="34" charset="-120"/>
              </a:rPr>
              <a:t>PHASE 3 (Q1 2027)</a:t>
            </a:r>
            <a:endParaRPr lang="en-US" sz="850" dirty="0"/>
          </a:p>
        </p:txBody>
      </p:sp>
      <p:sp>
        <p:nvSpPr>
          <p:cNvPr id="34" name="Text 32"/>
          <p:cNvSpPr/>
          <p:nvPr/>
        </p:nvSpPr>
        <p:spPr>
          <a:xfrm>
            <a:off x="6629400" y="4416552"/>
            <a:ext cx="4389120"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Official ABDM/FHIR Interoperability</a:t>
            </a:r>
            <a:endParaRPr lang="en-US" sz="1050" dirty="0"/>
          </a:p>
        </p:txBody>
      </p:sp>
      <p:sp>
        <p:nvSpPr>
          <p:cNvPr id="35" name="Text 33"/>
          <p:cNvSpPr/>
          <p:nvPr/>
        </p:nvSpPr>
        <p:spPr>
          <a:xfrm>
            <a:off x="6629400" y="4617720"/>
            <a:ext cx="4389120" cy="320040"/>
          </a:xfrm>
          <a:prstGeom prst="rect">
            <a:avLst/>
          </a:prstGeom>
          <a:noFill/>
          <a:ln/>
        </p:spPr>
        <p:txBody>
          <a:bodyPr wrap="square" rtlCol="0" anchor="ctr"/>
          <a:lstStyle/>
          <a:p>
            <a:pPr indent="0" marL="0">
              <a:buNone/>
            </a:pPr>
            <a:r>
              <a:rPr lang="en-US" sz="880" dirty="0">
                <a:solidFill>
                  <a:srgbClr val="475569"/>
                </a:solidFill>
                <a:latin typeface="Arial" pitchFamily="34" charset="0"/>
                <a:ea typeface="Arial" pitchFamily="34" charset="-122"/>
                <a:cs typeface="Arial" pitchFamily="34" charset="-120"/>
              </a:rPr>
              <a:t>Integrate Ayushman Bharat Digital Mission (ABDM) M1/M2/M3 milestones for official national health record federation.</a:t>
            </a:r>
            <a:endParaRPr lang="en-US" sz="880" dirty="0"/>
          </a:p>
        </p:txBody>
      </p:sp>
      <p:sp>
        <p:nvSpPr>
          <p:cNvPr id="36" name="Shape 34"/>
          <p:cNvSpPr/>
          <p:nvPr/>
        </p:nvSpPr>
        <p:spPr>
          <a:xfrm>
            <a:off x="6492240" y="5074920"/>
            <a:ext cx="4690872" cy="804672"/>
          </a:xfrm>
          <a:prstGeom prst="roundRect">
            <a:avLst/>
          </a:prstGeom>
          <a:solidFill>
            <a:srgbClr val="FFFFFF"/>
          </a:solidFill>
          <a:ln w="12700">
            <a:solidFill>
              <a:srgbClr val="E2E8F0"/>
            </a:solidFill>
            <a:prstDash val="solid"/>
          </a:ln>
        </p:spPr>
      </p:sp>
      <p:sp>
        <p:nvSpPr>
          <p:cNvPr id="37" name="Text 35"/>
          <p:cNvSpPr/>
          <p:nvPr/>
        </p:nvSpPr>
        <p:spPr>
          <a:xfrm>
            <a:off x="6629400" y="5148072"/>
            <a:ext cx="4389120" cy="201168"/>
          </a:xfrm>
          <a:prstGeom prst="rect">
            <a:avLst/>
          </a:prstGeom>
          <a:noFill/>
          <a:ln/>
        </p:spPr>
        <p:txBody>
          <a:bodyPr wrap="square" rtlCol="0" anchor="ctr"/>
          <a:lstStyle/>
          <a:p>
            <a:pPr indent="0" marL="0">
              <a:buNone/>
            </a:pPr>
            <a:r>
              <a:rPr lang="en-US" sz="850" b="1" dirty="0">
                <a:solidFill>
                  <a:srgbClr val="2563EB"/>
                </a:solidFill>
                <a:latin typeface="Arial" pitchFamily="34" charset="0"/>
                <a:ea typeface="Arial" pitchFamily="34" charset="-122"/>
                <a:cs typeface="Arial" pitchFamily="34" charset="-120"/>
              </a:rPr>
              <a:t>PHASE 4 (Long-Term)</a:t>
            </a:r>
            <a:endParaRPr lang="en-US" sz="850" dirty="0"/>
          </a:p>
        </p:txBody>
      </p:sp>
      <p:sp>
        <p:nvSpPr>
          <p:cNvPr id="38" name="Text 36"/>
          <p:cNvSpPr/>
          <p:nvPr/>
        </p:nvSpPr>
        <p:spPr>
          <a:xfrm>
            <a:off x="6629400" y="5330952"/>
            <a:ext cx="4389120" cy="219456"/>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Edge AI Offline-First Rural Deployments</a:t>
            </a:r>
            <a:endParaRPr lang="en-US" sz="1050" dirty="0"/>
          </a:p>
        </p:txBody>
      </p:sp>
      <p:sp>
        <p:nvSpPr>
          <p:cNvPr id="39" name="Text 37"/>
          <p:cNvSpPr/>
          <p:nvPr/>
        </p:nvSpPr>
        <p:spPr>
          <a:xfrm>
            <a:off x="6629400" y="5532120"/>
            <a:ext cx="4389120" cy="320040"/>
          </a:xfrm>
          <a:prstGeom prst="rect">
            <a:avLst/>
          </a:prstGeom>
          <a:noFill/>
          <a:ln/>
        </p:spPr>
        <p:txBody>
          <a:bodyPr wrap="square" rtlCol="0" anchor="ctr"/>
          <a:lstStyle/>
          <a:p>
            <a:pPr indent="0" marL="0">
              <a:buNone/>
            </a:pPr>
            <a:r>
              <a:rPr lang="en-US" sz="880" dirty="0">
                <a:solidFill>
                  <a:srgbClr val="475569"/>
                </a:solidFill>
                <a:latin typeface="Arial" pitchFamily="34" charset="0"/>
                <a:ea typeface="Arial" pitchFamily="34" charset="-122"/>
                <a:cs typeface="Arial" pitchFamily="34" charset="-120"/>
              </a:rPr>
              <a:t>Deploy quantized on-device LLMs enabling rural primary health sub-centres to operate continuity triage without active internet.</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2563EB"/>
          </a:solidFill>
          <a:ln/>
        </p:spPr>
      </p:sp>
      <p:sp>
        <p:nvSpPr>
          <p:cNvPr id="3" name="Shape 1"/>
          <p:cNvSpPr/>
          <p:nvPr/>
        </p:nvSpPr>
        <p:spPr>
          <a:xfrm>
            <a:off x="731520" y="1097280"/>
            <a:ext cx="2560320" cy="384048"/>
          </a:xfrm>
          <a:prstGeom prst="roundRect">
            <a:avLst/>
          </a:prstGeom>
          <a:solidFill>
            <a:srgbClr val="1E293B"/>
          </a:solidFill>
          <a:ln w="12700">
            <a:solidFill>
              <a:srgbClr val="334155"/>
            </a:solidFill>
            <a:prstDash val="solid"/>
          </a:ln>
        </p:spPr>
      </p:sp>
      <p:sp>
        <p:nvSpPr>
          <p:cNvPr id="4" name="Text 2"/>
          <p:cNvSpPr/>
          <p:nvPr/>
        </p:nvSpPr>
        <p:spPr>
          <a:xfrm>
            <a:off x="822960" y="1143000"/>
            <a:ext cx="2377440" cy="292608"/>
          </a:xfrm>
          <a:prstGeom prst="rect">
            <a:avLst/>
          </a:prstGeom>
          <a:noFill/>
          <a:ln/>
        </p:spPr>
        <p:txBody>
          <a:bodyPr wrap="square" rtlCol="0" anchor="ctr"/>
          <a:lstStyle/>
          <a:p>
            <a:pPr algn="ctr" indent="0" marL="0">
              <a:buNone/>
            </a:pPr>
            <a:r>
              <a:rPr lang="en-US" sz="950" b="1" spc="150" kern="0" dirty="0">
                <a:solidFill>
                  <a:srgbClr val="38BDF8"/>
                </a:solidFill>
                <a:latin typeface="Arial" pitchFamily="34" charset="0"/>
                <a:ea typeface="Arial" pitchFamily="34" charset="-122"/>
                <a:cs typeface="Arial" pitchFamily="34" charset="-120"/>
              </a:rPr>
              <a:t>CONCLUSION &amp; RECAP</a:t>
            </a:r>
            <a:endParaRPr lang="en-US" sz="950" dirty="0"/>
          </a:p>
        </p:txBody>
      </p:sp>
      <p:sp>
        <p:nvSpPr>
          <p:cNvPr id="5" name="Text 3"/>
          <p:cNvSpPr/>
          <p:nvPr/>
        </p:nvSpPr>
        <p:spPr>
          <a:xfrm>
            <a:off x="731520" y="1645920"/>
            <a:ext cx="10515600" cy="10058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Veyora Healthcare: Transforming Healthcare from Static Records to Continuous Care</a:t>
            </a:r>
            <a:endParaRPr lang="en-US" sz="3200" dirty="0"/>
          </a:p>
        </p:txBody>
      </p:sp>
      <p:sp>
        <p:nvSpPr>
          <p:cNvPr id="6" name="Shape 4"/>
          <p:cNvSpPr/>
          <p:nvPr/>
        </p:nvSpPr>
        <p:spPr>
          <a:xfrm>
            <a:off x="731520" y="2834640"/>
            <a:ext cx="3410712" cy="2194560"/>
          </a:xfrm>
          <a:prstGeom prst="roundRect">
            <a:avLst/>
          </a:prstGeom>
          <a:solidFill>
            <a:srgbClr val="1E293B"/>
          </a:solidFill>
          <a:ln w="19050">
            <a:solidFill>
              <a:srgbClr val="334155"/>
            </a:solidFill>
            <a:prstDash val="solid"/>
          </a:ln>
        </p:spPr>
      </p:sp>
      <p:sp>
        <p:nvSpPr>
          <p:cNvPr id="7" name="Text 5"/>
          <p:cNvSpPr/>
          <p:nvPr/>
        </p:nvSpPr>
        <p:spPr>
          <a:xfrm>
            <a:off x="1005840" y="3063240"/>
            <a:ext cx="2862072" cy="457200"/>
          </a:xfrm>
          <a:prstGeom prst="rect">
            <a:avLst/>
          </a:prstGeom>
          <a:noFill/>
          <a:ln/>
        </p:spPr>
        <p:txBody>
          <a:bodyPr wrap="square" rtlCol="0" anchor="ctr"/>
          <a:lstStyle/>
          <a:p>
            <a:pPr indent="0" marL="0">
              <a:buNone/>
            </a:pPr>
            <a:r>
              <a:rPr lang="en-US" sz="1400" b="1" dirty="0">
                <a:solidFill>
                  <a:srgbClr val="60A5FA"/>
                </a:solidFill>
                <a:latin typeface="Arial" pitchFamily="34" charset="0"/>
                <a:ea typeface="Arial" pitchFamily="34" charset="-122"/>
                <a:cs typeface="Arial" pitchFamily="34" charset="-120"/>
              </a:rPr>
              <a:t>The Post-Care Void is Solved</a:t>
            </a:r>
            <a:endParaRPr lang="en-US" sz="1400" dirty="0"/>
          </a:p>
        </p:txBody>
      </p:sp>
      <p:sp>
        <p:nvSpPr>
          <p:cNvPr id="8" name="Text 6"/>
          <p:cNvSpPr/>
          <p:nvPr/>
        </p:nvSpPr>
        <p:spPr>
          <a:xfrm>
            <a:off x="1005840" y="3566160"/>
            <a:ext cx="2862072" cy="1280160"/>
          </a:xfrm>
          <a:prstGeom prst="rect">
            <a:avLst/>
          </a:prstGeom>
          <a:noFill/>
          <a:ln/>
        </p:spPr>
        <p:txBody>
          <a:bodyPr wrap="square" rtlCol="0" anchor="ctr"/>
          <a:lstStyle/>
          <a:p>
            <a:pPr indent="0" marL="0">
              <a:lnSpc>
                <a:spcPts val="1500"/>
              </a:lnSpc>
              <a:buNone/>
            </a:pPr>
            <a:r>
              <a:rPr lang="en-US" sz="1050" dirty="0">
                <a:solidFill>
                  <a:srgbClr val="E2E8F0"/>
                </a:solidFill>
                <a:latin typeface="Arial" pitchFamily="34" charset="0"/>
                <a:ea typeface="Arial" pitchFamily="34" charset="-122"/>
                <a:cs typeface="Arial" pitchFamily="34" charset="-120"/>
              </a:rPr>
              <a:t>Healthcare no longer stops at the clinic door. The Autonomous AI Care Coordinator oversees daily recovery and dose adherence.</a:t>
            </a:r>
            <a:endParaRPr lang="en-US" sz="1050" dirty="0"/>
          </a:p>
        </p:txBody>
      </p:sp>
      <p:sp>
        <p:nvSpPr>
          <p:cNvPr id="9" name="Shape 7"/>
          <p:cNvSpPr/>
          <p:nvPr/>
        </p:nvSpPr>
        <p:spPr>
          <a:xfrm>
            <a:off x="4389120" y="2834640"/>
            <a:ext cx="3410712" cy="2194560"/>
          </a:xfrm>
          <a:prstGeom prst="roundRect">
            <a:avLst/>
          </a:prstGeom>
          <a:solidFill>
            <a:srgbClr val="1E293B"/>
          </a:solidFill>
          <a:ln w="19050">
            <a:solidFill>
              <a:srgbClr val="334155"/>
            </a:solidFill>
            <a:prstDash val="solid"/>
          </a:ln>
        </p:spPr>
      </p:sp>
      <p:sp>
        <p:nvSpPr>
          <p:cNvPr id="10" name="Text 8"/>
          <p:cNvSpPr/>
          <p:nvPr/>
        </p:nvSpPr>
        <p:spPr>
          <a:xfrm>
            <a:off x="4663440" y="3063240"/>
            <a:ext cx="2862072" cy="457200"/>
          </a:xfrm>
          <a:prstGeom prst="rect">
            <a:avLst/>
          </a:prstGeom>
          <a:noFill/>
          <a:ln/>
        </p:spPr>
        <p:txBody>
          <a:bodyPr wrap="square" rtlCol="0" anchor="ctr"/>
          <a:lstStyle/>
          <a:p>
            <a:pPr indent="0" marL="0">
              <a:buNone/>
            </a:pPr>
            <a:r>
              <a:rPr lang="en-US" sz="1400" b="1" dirty="0">
                <a:solidFill>
                  <a:srgbClr val="60A5FA"/>
                </a:solidFill>
                <a:latin typeface="Arial" pitchFamily="34" charset="0"/>
                <a:ea typeface="Arial" pitchFamily="34" charset="-122"/>
                <a:cs typeface="Arial" pitchFamily="34" charset="-120"/>
              </a:rPr>
              <a:t>Clinician Speed &amp; Zero Clutter</a:t>
            </a:r>
            <a:endParaRPr lang="en-US" sz="1400" dirty="0"/>
          </a:p>
        </p:txBody>
      </p:sp>
      <p:sp>
        <p:nvSpPr>
          <p:cNvPr id="11" name="Text 9"/>
          <p:cNvSpPr/>
          <p:nvPr/>
        </p:nvSpPr>
        <p:spPr>
          <a:xfrm>
            <a:off x="4663440" y="3566160"/>
            <a:ext cx="2862072" cy="1280160"/>
          </a:xfrm>
          <a:prstGeom prst="rect">
            <a:avLst/>
          </a:prstGeom>
          <a:noFill/>
          <a:ln/>
        </p:spPr>
        <p:txBody>
          <a:bodyPr wrap="square" rtlCol="0" anchor="ctr"/>
          <a:lstStyle/>
          <a:p>
            <a:pPr indent="0" marL="0">
              <a:lnSpc>
                <a:spcPts val="1500"/>
              </a:lnSpc>
              <a:buNone/>
            </a:pPr>
            <a:r>
              <a:rPr lang="en-US" sz="1050" dirty="0">
                <a:solidFill>
                  <a:srgbClr val="E2E8F0"/>
                </a:solidFill>
                <a:latin typeface="Arial" pitchFamily="34" charset="0"/>
                <a:ea typeface="Arial" pitchFamily="34" charset="-122"/>
                <a:cs typeface="Arial" pitchFamily="34" charset="-120"/>
              </a:rPr>
              <a:t>Sub-second camera QR lookups and rapid 3-click prescription building reduce doctor fatigue in overcrowded OPDs.</a:t>
            </a:r>
            <a:endParaRPr lang="en-US" sz="1050" dirty="0"/>
          </a:p>
        </p:txBody>
      </p:sp>
      <p:sp>
        <p:nvSpPr>
          <p:cNvPr id="12" name="Shape 10"/>
          <p:cNvSpPr/>
          <p:nvPr/>
        </p:nvSpPr>
        <p:spPr>
          <a:xfrm>
            <a:off x="8046720" y="2834640"/>
            <a:ext cx="3410712" cy="2194560"/>
          </a:xfrm>
          <a:prstGeom prst="roundRect">
            <a:avLst/>
          </a:prstGeom>
          <a:solidFill>
            <a:srgbClr val="1E293B"/>
          </a:solidFill>
          <a:ln w="19050">
            <a:solidFill>
              <a:srgbClr val="334155"/>
            </a:solidFill>
            <a:prstDash val="solid"/>
          </a:ln>
        </p:spPr>
      </p:sp>
      <p:sp>
        <p:nvSpPr>
          <p:cNvPr id="13" name="Text 11"/>
          <p:cNvSpPr/>
          <p:nvPr/>
        </p:nvSpPr>
        <p:spPr>
          <a:xfrm>
            <a:off x="8321040" y="3063240"/>
            <a:ext cx="2862072" cy="457200"/>
          </a:xfrm>
          <a:prstGeom prst="rect">
            <a:avLst/>
          </a:prstGeom>
          <a:noFill/>
          <a:ln/>
        </p:spPr>
        <p:txBody>
          <a:bodyPr wrap="square" rtlCol="0" anchor="ctr"/>
          <a:lstStyle/>
          <a:p>
            <a:pPr indent="0" marL="0">
              <a:buNone/>
            </a:pPr>
            <a:r>
              <a:rPr lang="en-US" sz="1400" b="1" dirty="0">
                <a:solidFill>
                  <a:srgbClr val="60A5FA"/>
                </a:solidFill>
                <a:latin typeface="Arial" pitchFamily="34" charset="0"/>
                <a:ea typeface="Arial" pitchFamily="34" charset="-122"/>
                <a:cs typeface="Arial" pitchFamily="34" charset="-120"/>
              </a:rPr>
              <a:t>Inclusive &amp; Bharat-Ready</a:t>
            </a:r>
            <a:endParaRPr lang="en-US" sz="1400" dirty="0"/>
          </a:p>
        </p:txBody>
      </p:sp>
      <p:sp>
        <p:nvSpPr>
          <p:cNvPr id="14" name="Text 12"/>
          <p:cNvSpPr/>
          <p:nvPr/>
        </p:nvSpPr>
        <p:spPr>
          <a:xfrm>
            <a:off x="8321040" y="3566160"/>
            <a:ext cx="2862072" cy="1280160"/>
          </a:xfrm>
          <a:prstGeom prst="rect">
            <a:avLst/>
          </a:prstGeom>
          <a:noFill/>
          <a:ln/>
        </p:spPr>
        <p:txBody>
          <a:bodyPr wrap="square" rtlCol="0" anchor="ctr"/>
          <a:lstStyle/>
          <a:p>
            <a:pPr indent="0" marL="0">
              <a:lnSpc>
                <a:spcPts val="1500"/>
              </a:lnSpc>
              <a:buNone/>
            </a:pPr>
            <a:r>
              <a:rPr lang="en-US" sz="1050" dirty="0">
                <a:solidFill>
                  <a:srgbClr val="E2E8F0"/>
                </a:solidFill>
                <a:latin typeface="Arial" pitchFamily="34" charset="0"/>
                <a:ea typeface="Arial" pitchFamily="34" charset="-122"/>
                <a:cs typeface="Arial" pitchFamily="34" charset="-120"/>
              </a:rPr>
              <a:t>Voice-enabled vernacular intake in Hindi &amp; English, combined with community ASHA worker escalation daemons.</a:t>
            </a:r>
            <a:endParaRPr lang="en-US" sz="1050" dirty="0"/>
          </a:p>
        </p:txBody>
      </p:sp>
      <p:sp>
        <p:nvSpPr>
          <p:cNvPr id="15" name="Text 13"/>
          <p:cNvSpPr/>
          <p:nvPr/>
        </p:nvSpPr>
        <p:spPr>
          <a:xfrm>
            <a:off x="731520" y="5394960"/>
            <a:ext cx="10725912" cy="457200"/>
          </a:xfrm>
          <a:prstGeom prst="rect">
            <a:avLst/>
          </a:prstGeom>
          <a:noFill/>
          <a:ln/>
        </p:spPr>
        <p:txBody>
          <a:bodyPr wrap="square" rtlCol="0" anchor="ctr"/>
          <a:lstStyle/>
          <a:p>
            <a:pPr algn="ctr" indent="0" marL="0">
              <a:buNone/>
            </a:pPr>
            <a:r>
              <a:rPr lang="en-US" sz="1600" b="1" dirty="0">
                <a:solidFill>
                  <a:srgbClr val="38BDF8"/>
                </a:solidFill>
                <a:latin typeface="Arial" pitchFamily="34" charset="0"/>
                <a:ea typeface="Arial" pitchFamily="34" charset="-122"/>
                <a:cs typeface="Arial" pitchFamily="34" charset="-120"/>
              </a:rPr>
              <a:t>Thank You! Open for Questions &amp; Live Demonstration Evaluation.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2026-10-18T05:44:06Z</dcterms:created>
  <dcterms:modified xsi:type="dcterms:W3CDTF">2026-10-18T05:44:06Z</dcterms:modified>
</cp:coreProperties>
</file>